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egisAgent Pitch" id="{DE52601A-051A-E2FA-32D6-0073EF08AFD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60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1"/>
          <p:cNvSpPr txBox="1"/>
          <p:nvPr/>
        </p:nvSpPr>
        <p:spPr>
          <a:xfrm>
            <a:off x="685800" y="53035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" name="icon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612648"/>
            <a:ext cx="146304" cy="146304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1097280" y="5303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</a:rPr>
              <a:t>HACXLERATE 2026</a:t>
            </a:r>
            <a:endParaRPr lang="en-US" sz="1200" dirty="0"/>
          </a:p>
        </p:txBody>
      </p:sp>
      <p:sp>
        <p:nvSpPr>
          <p:cNvPr id="5" name="text-4"/>
          <p:cNvSpPr txBox="1"/>
          <p:nvPr/>
        </p:nvSpPr>
        <p:spPr>
          <a:xfrm>
            <a:off x="6675120" y="53035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RISK PROTECTION • SOCIAL &amp; APP MONITORING</a:t>
            </a:r>
            <a:endParaRPr lang="en-US" sz="1100" dirty="0"/>
          </a:p>
        </p:txBody>
      </p:sp>
      <p:sp>
        <p:nvSpPr>
          <p:cNvPr id="6" name="text-5"/>
          <p:cNvSpPr txBox="1"/>
          <p:nvPr/>
        </p:nvSpPr>
        <p:spPr>
          <a:xfrm>
            <a:off x="685800" y="13258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</a:rPr>
              <a:t>AEGISAGENT DRP</a:t>
            </a:r>
            <a:endParaRPr lang="en-US" sz="6600" dirty="0"/>
          </a:p>
        </p:txBody>
      </p:sp>
      <p:sp>
        <p:nvSpPr>
          <p:cNvPr id="7" name="text-6"/>
          <p:cNvSpPr txBox="1"/>
          <p:nvPr/>
        </p:nvSpPr>
        <p:spPr>
          <a:xfrm>
            <a:off x="685800" y="2514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</a:rPr>
              <a:t>Autonomous Digital Risk Protection</a:t>
            </a:r>
            <a:endParaRPr lang="en-US" sz="2200" dirty="0"/>
          </a:p>
        </p:txBody>
      </p:sp>
      <p:sp>
        <p:nvSpPr>
          <p:cNvPr id="8" name="text-7"/>
          <p:cNvSpPr txBox="1"/>
          <p:nvPr/>
        </p:nvSpPr>
        <p:spPr>
          <a:xfrm>
            <a:off x="685800" y="3200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A monitoring and investigation prototype for potential brand impersonation across social profiles and mobile applications. Uses registered brand assets, configurable risk signals, analyst review, and structured evidence reporting.</a:t>
            </a:r>
            <a:endParaRPr lang="en-US" sz="1800" dirty="0"/>
          </a:p>
        </p:txBody>
      </p:sp>
      <p:sp>
        <p:nvSpPr>
          <p:cNvPr id="9" name="shape-8"/>
          <p:cNvSpPr/>
          <p:nvPr/>
        </p:nvSpPr>
        <p:spPr>
          <a:xfrm>
            <a:off x="685800" y="45262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0" name="icon-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36592"/>
            <a:ext cx="256032" cy="256032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>
            <a:off x="1325880" y="4526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Brand Asset Registry</a:t>
            </a:r>
            <a:endParaRPr lang="en-US" sz="1300" dirty="0"/>
          </a:p>
        </p:txBody>
      </p:sp>
      <p:sp>
        <p:nvSpPr>
          <p:cNvPr id="12" name="shape-11"/>
          <p:cNvSpPr/>
          <p:nvPr/>
        </p:nvSpPr>
        <p:spPr>
          <a:xfrm>
            <a:off x="3429000" y="45262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3" name="icon-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736592"/>
            <a:ext cx="256032" cy="256032"/>
          </a:xfrm>
          <a:prstGeom prst="rect">
            <a:avLst/>
          </a:prstGeom>
        </p:spPr>
      </p:pic>
      <p:sp>
        <p:nvSpPr>
          <p:cNvPr id="14" name="text-13"/>
          <p:cNvSpPr txBox="1"/>
          <p:nvPr/>
        </p:nvSpPr>
        <p:spPr>
          <a:xfrm>
            <a:off x="4069080" y="4526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Analyst Review Workflows</a:t>
            </a:r>
            <a:endParaRPr lang="en-US" sz="1300" dirty="0"/>
          </a:p>
        </p:txBody>
      </p:sp>
      <p:sp>
        <p:nvSpPr>
          <p:cNvPr id="15" name="shape-14"/>
          <p:cNvSpPr/>
          <p:nvPr/>
        </p:nvSpPr>
        <p:spPr>
          <a:xfrm>
            <a:off x="6355080" y="4480560"/>
            <a:ext cx="2496312" cy="777240"/>
          </a:xfrm>
          <a:prstGeom prst="roundRect">
            <a:avLst>
              <a:gd name="adj" fmla="val 14118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6" name="text-15"/>
          <p:cNvSpPr txBox="1"/>
          <p:nvPr/>
        </p:nvSpPr>
        <p:spPr>
          <a:xfrm>
            <a:off x="6537960" y="4507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7171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-16"/>
          <p:cNvSpPr txBox="1"/>
          <p:nvPr/>
        </p:nvSpPr>
        <p:spPr>
          <a:xfrm>
            <a:off x="6537960" y="4873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Monitoring channels demonstrated</a:t>
            </a:r>
            <a:endParaRPr lang="en-US" sz="1000" dirty="0"/>
          </a:p>
        </p:txBody>
      </p:sp>
      <p:sp>
        <p:nvSpPr>
          <p:cNvPr id="18" name="shape-17"/>
          <p:cNvSpPr/>
          <p:nvPr/>
        </p:nvSpPr>
        <p:spPr>
          <a:xfrm>
            <a:off x="8961120" y="4480560"/>
            <a:ext cx="2496312" cy="777240"/>
          </a:xfrm>
          <a:prstGeom prst="roundRect">
            <a:avLst>
              <a:gd name="adj" fmla="val 14118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9" name="text-18"/>
          <p:cNvSpPr txBox="1"/>
          <p:nvPr/>
        </p:nvSpPr>
        <p:spPr>
          <a:xfrm>
            <a:off x="9144000" y="4507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D399"/>
                </a:solidFill>
              </a:rPr>
              <a:t>JSON</a:t>
            </a:r>
            <a:endParaRPr lang="en-US" sz="2400" dirty="0"/>
          </a:p>
        </p:txBody>
      </p:sp>
      <p:sp>
        <p:nvSpPr>
          <p:cNvPr id="20" name="text-19"/>
          <p:cNvSpPr txBox="1"/>
          <p:nvPr/>
        </p:nvSpPr>
        <p:spPr>
          <a:xfrm>
            <a:off x="9144000" y="4873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Evidence export</a:t>
            </a:r>
            <a:endParaRPr lang="en-US" sz="1000" dirty="0"/>
          </a:p>
        </p:txBody>
      </p:sp>
      <p:sp>
        <p:nvSpPr>
          <p:cNvPr id="21" name="shape-20"/>
          <p:cNvSpPr/>
          <p:nvPr/>
        </p:nvSpPr>
        <p:spPr>
          <a:xfrm>
            <a:off x="685800" y="5468112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87171">
              <a:alpha val="10000"/>
            </a:srgbClr>
          </a:solidFill>
          <a:ln w="9525">
            <a:solidFill>
              <a:srgbClr val="F87171">
                <a:alpha val="35000"/>
              </a:srgbClr>
            </a:solidFill>
            <a:prstDash val="solid"/>
          </a:ln>
        </p:spPr>
      </p:sp>
      <p:sp>
        <p:nvSpPr>
          <p:cNvPr id="22" name="dot-21"/>
          <p:cNvSpPr/>
          <p:nvPr/>
        </p:nvSpPr>
        <p:spPr>
          <a:xfrm>
            <a:off x="886968" y="56052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-22"/>
          <p:cNvSpPr txBox="1"/>
          <p:nvPr/>
        </p:nvSpPr>
        <p:spPr>
          <a:xfrm>
            <a:off x="1097280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Look-alike social profiles</a:t>
            </a:r>
            <a:endParaRPr lang="en-US" sz="1100" dirty="0"/>
          </a:p>
        </p:txBody>
      </p:sp>
      <p:sp>
        <p:nvSpPr>
          <p:cNvPr id="24" name="shape-23"/>
          <p:cNvSpPr/>
          <p:nvPr/>
        </p:nvSpPr>
        <p:spPr>
          <a:xfrm>
            <a:off x="4357116" y="5468112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60A5FA">
              <a:alpha val="10000"/>
            </a:srgbClr>
          </a:solidFill>
          <a:ln w="9525">
            <a:solidFill>
              <a:srgbClr val="60A5FA">
                <a:alpha val="35000"/>
              </a:srgbClr>
            </a:solidFill>
            <a:prstDash val="solid"/>
          </a:ln>
        </p:spPr>
      </p:sp>
      <p:sp>
        <p:nvSpPr>
          <p:cNvPr id="25" name="dot-24"/>
          <p:cNvSpPr/>
          <p:nvPr/>
        </p:nvSpPr>
        <p:spPr>
          <a:xfrm>
            <a:off x="4558284" y="560527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-25"/>
          <p:cNvSpPr txBox="1"/>
          <p:nvPr/>
        </p:nvSpPr>
        <p:spPr>
          <a:xfrm>
            <a:off x="4768596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Suspicious mobile apps</a:t>
            </a:r>
            <a:endParaRPr lang="en-US" sz="1100" dirty="0"/>
          </a:p>
        </p:txBody>
      </p:sp>
      <p:sp>
        <p:nvSpPr>
          <p:cNvPr id="27" name="shape-26"/>
          <p:cNvSpPr/>
          <p:nvPr/>
        </p:nvSpPr>
        <p:spPr>
          <a:xfrm>
            <a:off x="8028432" y="5468112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8" name="dot-27"/>
          <p:cNvSpPr/>
          <p:nvPr/>
        </p:nvSpPr>
        <p:spPr>
          <a:xfrm>
            <a:off x="8229600" y="56052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-28"/>
          <p:cNvSpPr txBox="1"/>
          <p:nvPr/>
        </p:nvSpPr>
        <p:spPr>
          <a:xfrm>
            <a:off x="8439912" y="5468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Official asset exclusion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85800" y="6035040"/>
            <a:ext cx="10817352" cy="0"/>
          </a:xfrm>
          <a:prstGeom prst="line">
            <a:avLst/>
          </a:prstGeom>
          <a:noFill/>
          <a:ln w="9525">
            <a:solidFill>
              <a:srgbClr val="1E2A3B"/>
            </a:solidFill>
            <a:prstDash val="solid"/>
          </a:ln>
        </p:spPr>
      </p:sp>
      <p:sp>
        <p:nvSpPr>
          <p:cNvPr id="31" name="text-29"/>
          <p:cNvSpPr txBox="1"/>
          <p:nvPr/>
        </p:nvSpPr>
        <p:spPr>
          <a:xfrm>
            <a:off x="685800" y="6144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Detect. Review. Document. Protect Brand Trust.</a:t>
            </a:r>
            <a:endParaRPr lang="en-US" sz="1200" dirty="0"/>
          </a:p>
        </p:txBody>
      </p:sp>
      <p:sp>
        <p:nvSpPr>
          <p:cNvPr id="32" name="text-30"/>
          <p:cNvSpPr txBox="1"/>
          <p:nvPr/>
        </p:nvSpPr>
        <p:spPr>
          <a:xfrm>
            <a:off x="7845552" y="6144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HacXLerate 2026 • Problem Statement 3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1"/>
          <p:cNvSpPr txBox="1"/>
          <p:nvPr/>
        </p:nvSpPr>
        <p:spPr>
          <a:xfrm>
            <a:off x="685800" y="50292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Digital Brand Abuse: The Problem &amp; Our Approach</a:t>
            </a:r>
            <a:endParaRPr lang="en-US" sz="2800" dirty="0"/>
          </a:p>
        </p:txBody>
      </p:sp>
      <p:sp>
        <p:nvSpPr>
          <p:cNvPr id="3" name="pill-32"/>
          <p:cNvSpPr txBox="1"/>
          <p:nvPr/>
        </p:nvSpPr>
        <p:spPr>
          <a:xfrm>
            <a:off x="9491472" y="62179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PROBLEM &amp; SOLUTION</a:t>
            </a:r>
            <a:endParaRPr lang="en-US" sz="1100" dirty="0"/>
          </a:p>
        </p:txBody>
      </p:sp>
      <p:sp>
        <p:nvSpPr>
          <p:cNvPr id="4" name="text-33"/>
          <p:cNvSpPr txBox="1"/>
          <p:nvPr/>
        </p:nvSpPr>
        <p:spPr>
          <a:xfrm>
            <a:off x="685800" y="1508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Brand impersonation across social profiles and mobile apps can mislead customers, damage trust, and increase the effort required for security teams to investigate suspicious assets.</a:t>
            </a:r>
            <a:endParaRPr lang="en-US" sz="1500" dirty="0"/>
          </a:p>
        </p:txBody>
      </p:sp>
      <p:sp>
        <p:nvSpPr>
          <p:cNvPr id="5" name="shape-34"/>
          <p:cNvSpPr/>
          <p:nvPr/>
        </p:nvSpPr>
        <p:spPr>
          <a:xfrm>
            <a:off x="685800" y="2286000"/>
            <a:ext cx="5257800" cy="361188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" name="icon-3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237744" cy="237744"/>
          </a:xfrm>
          <a:prstGeom prst="rect">
            <a:avLst/>
          </a:prstGeom>
        </p:spPr>
      </p:pic>
      <p:sp>
        <p:nvSpPr>
          <p:cNvPr id="7" name="text-36"/>
          <p:cNvSpPr txBox="1"/>
          <p:nvPr/>
        </p:nvSpPr>
        <p:spPr>
          <a:xfrm>
            <a:off x="1371600" y="25237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</a:rPr>
              <a:t>Common Threat Patterns</a:t>
            </a:r>
            <a:endParaRPr lang="en-US" sz="1700" dirty="0"/>
          </a:p>
        </p:txBody>
      </p:sp>
      <p:sp>
        <p:nvSpPr>
          <p:cNvPr id="8" name="shape-37"/>
          <p:cNvSpPr/>
          <p:nvPr/>
        </p:nvSpPr>
        <p:spPr>
          <a:xfrm>
            <a:off x="1005840" y="3063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pic>
        <p:nvPicPr>
          <p:cNvPr id="9" name="icon-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3177540"/>
            <a:ext cx="228600" cy="228600"/>
          </a:xfrm>
          <a:prstGeom prst="rect">
            <a:avLst/>
          </a:prstGeom>
        </p:spPr>
      </p:pic>
      <p:sp>
        <p:nvSpPr>
          <p:cNvPr id="10" name="text-39"/>
          <p:cNvSpPr txBox="1"/>
          <p:nvPr/>
        </p:nvSpPr>
        <p:spPr>
          <a:xfrm>
            <a:off x="164592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Look-alike Social Profiles</a:t>
            </a:r>
            <a:endParaRPr lang="en-US" sz="1500" dirty="0"/>
          </a:p>
        </p:txBody>
      </p:sp>
      <p:sp>
        <p:nvSpPr>
          <p:cNvPr id="11" name="text-40"/>
          <p:cNvSpPr txBox="1"/>
          <p:nvPr/>
        </p:nvSpPr>
        <p:spPr>
          <a:xfrm>
            <a:off x="164592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Profiles may imitate a brand name or support identity to mislead customers. Similarity alone does not prove malicious intent.</a:t>
            </a:r>
            <a:endParaRPr lang="en-US" sz="1100" dirty="0"/>
          </a:p>
        </p:txBody>
      </p:sp>
      <p:sp>
        <p:nvSpPr>
          <p:cNvPr id="12" name="text-41"/>
          <p:cNvSpPr txBox="1"/>
          <p:nvPr/>
        </p:nvSpPr>
        <p:spPr>
          <a:xfrm>
            <a:off x="1645920" y="3712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Needs contextual review</a:t>
            </a:r>
            <a:endParaRPr lang="en-US" sz="1100" dirty="0"/>
          </a:p>
        </p:txBody>
      </p:sp>
      <p:sp>
        <p:nvSpPr>
          <p:cNvPr id="13" name="shape-42"/>
          <p:cNvSpPr/>
          <p:nvPr/>
        </p:nvSpPr>
        <p:spPr>
          <a:xfrm>
            <a:off x="1005840" y="40050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pic>
        <p:nvPicPr>
          <p:cNvPr id="14" name="icon-4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4119372"/>
            <a:ext cx="228600" cy="228600"/>
          </a:xfrm>
          <a:prstGeom prst="rect">
            <a:avLst/>
          </a:prstGeom>
        </p:spPr>
      </p:pic>
      <p:sp>
        <p:nvSpPr>
          <p:cNvPr id="15" name="text-44"/>
          <p:cNvSpPr txBox="1"/>
          <p:nvPr/>
        </p:nvSpPr>
        <p:spPr>
          <a:xfrm>
            <a:off x="1645920" y="3959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Suspicious Mobile Apps</a:t>
            </a:r>
            <a:endParaRPr lang="en-US" sz="1500" dirty="0"/>
          </a:p>
        </p:txBody>
      </p:sp>
      <p:sp>
        <p:nvSpPr>
          <p:cNvPr id="16" name="text-45"/>
          <p:cNvSpPr txBox="1"/>
          <p:nvPr/>
        </p:nvSpPr>
        <p:spPr>
          <a:xfrm>
            <a:off x="1645920" y="4233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Apps may use similar names or branding, or have publisher details that differ from the official brand profile.</a:t>
            </a:r>
            <a:endParaRPr lang="en-US" sz="1100" dirty="0"/>
          </a:p>
        </p:txBody>
      </p:sp>
      <p:sp>
        <p:nvSpPr>
          <p:cNvPr id="17" name="text-46"/>
          <p:cNvSpPr txBox="1"/>
          <p:nvPr/>
        </p:nvSpPr>
        <p:spPr>
          <a:xfrm>
            <a:off x="1645920" y="4654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Compare against registered assets</a:t>
            </a:r>
            <a:endParaRPr lang="en-US" sz="1100" dirty="0"/>
          </a:p>
        </p:txBody>
      </p:sp>
      <p:sp>
        <p:nvSpPr>
          <p:cNvPr id="18" name="shape-47"/>
          <p:cNvSpPr/>
          <p:nvPr/>
        </p:nvSpPr>
        <p:spPr>
          <a:xfrm>
            <a:off x="1005840" y="49469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pic>
        <p:nvPicPr>
          <p:cNvPr id="19" name="icon-4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" y="5061204"/>
            <a:ext cx="228600" cy="228600"/>
          </a:xfrm>
          <a:prstGeom prst="rect">
            <a:avLst/>
          </a:prstGeom>
        </p:spPr>
      </p:pic>
      <p:sp>
        <p:nvSpPr>
          <p:cNvPr id="20" name="text-49"/>
          <p:cNvSpPr txBox="1"/>
          <p:nvPr/>
        </p:nvSpPr>
        <p:spPr>
          <a:xfrm>
            <a:off x="1645920" y="4901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False Positives Matter</a:t>
            </a:r>
            <a:endParaRPr lang="en-US" sz="1500" dirty="0"/>
          </a:p>
        </p:txBody>
      </p:sp>
      <p:sp>
        <p:nvSpPr>
          <p:cNvPr id="21" name="text-50"/>
          <p:cNvSpPr txBox="1"/>
          <p:nvPr/>
        </p:nvSpPr>
        <p:spPr>
          <a:xfrm>
            <a:off x="1645920" y="51755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Legitimate brand accounts and official applications must be distinguished from suspicious candidates using the configured brand registry.</a:t>
            </a:r>
            <a:endParaRPr lang="en-US" sz="1100" dirty="0"/>
          </a:p>
        </p:txBody>
      </p:sp>
      <p:sp>
        <p:nvSpPr>
          <p:cNvPr id="22" name="text-51"/>
          <p:cNvSpPr txBox="1"/>
          <p:nvPr/>
        </p:nvSpPr>
        <p:spPr>
          <a:xfrm>
            <a:off x="1645920" y="55961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Official-asset exclusion</a:t>
            </a:r>
            <a:endParaRPr lang="en-US" sz="1100" dirty="0"/>
          </a:p>
        </p:txBody>
      </p:sp>
      <p:sp>
        <p:nvSpPr>
          <p:cNvPr id="23" name="shape-52"/>
          <p:cNvSpPr/>
          <p:nvPr/>
        </p:nvSpPr>
        <p:spPr>
          <a:xfrm>
            <a:off x="6217920" y="2286000"/>
            <a:ext cx="5285232" cy="3611880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4" name="text-53"/>
          <p:cNvSpPr txBox="1"/>
          <p:nvPr/>
        </p:nvSpPr>
        <p:spPr>
          <a:xfrm>
            <a:off x="6583680" y="25237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E5FF"/>
                </a:solidFill>
              </a:rPr>
              <a:t>The AegisAgent Approach</a:t>
            </a:r>
            <a:endParaRPr lang="en-US" sz="1700" dirty="0"/>
          </a:p>
        </p:txBody>
      </p:sp>
      <p:sp>
        <p:nvSpPr>
          <p:cNvPr id="25" name="shape-54"/>
          <p:cNvSpPr/>
          <p:nvPr/>
        </p:nvSpPr>
        <p:spPr>
          <a:xfrm>
            <a:off x="6583680" y="3063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A3B"/>
          </a:solidFill>
          <a:ln w="12700">
            <a:solidFill>
              <a:srgbClr val="0B2A3B">
                <a:alpha val="0"/>
              </a:srgbClr>
            </a:solidFill>
            <a:prstDash val="solid"/>
          </a:ln>
        </p:spPr>
      </p:sp>
      <p:pic>
        <p:nvPicPr>
          <p:cNvPr id="26" name="icon-5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3177540"/>
            <a:ext cx="228600" cy="228600"/>
          </a:xfrm>
          <a:prstGeom prst="rect">
            <a:avLst/>
          </a:prstGeom>
        </p:spPr>
      </p:pic>
      <p:sp>
        <p:nvSpPr>
          <p:cNvPr id="27" name="text-56"/>
          <p:cNvSpPr txBox="1"/>
          <p:nvPr/>
        </p:nvSpPr>
        <p:spPr>
          <a:xfrm>
            <a:off x="7223760" y="3017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Monitor Demo Candidates</a:t>
            </a:r>
            <a:endParaRPr lang="en-US" sz="1500" dirty="0"/>
          </a:p>
        </p:txBody>
      </p:sp>
      <p:sp>
        <p:nvSpPr>
          <p:cNvPr id="28" name="text-57"/>
          <p:cNvSpPr txBox="1"/>
          <p:nvPr/>
        </p:nvSpPr>
        <p:spPr>
          <a:xfrm>
            <a:off x="722376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Run social and app monitoring workflows using synthetic demonstration fixtures.</a:t>
            </a:r>
            <a:endParaRPr lang="en-US" sz="1100" dirty="0"/>
          </a:p>
        </p:txBody>
      </p:sp>
      <p:sp>
        <p:nvSpPr>
          <p:cNvPr id="29" name="text-58"/>
          <p:cNvSpPr txBox="1"/>
          <p:nvPr/>
        </p:nvSpPr>
        <p:spPr>
          <a:xfrm>
            <a:off x="7223760" y="37124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</a:rPr>
              <a:t>Demo fixture provenance</a:t>
            </a:r>
            <a:endParaRPr lang="en-US" sz="1100" dirty="0"/>
          </a:p>
        </p:txBody>
      </p:sp>
      <p:sp>
        <p:nvSpPr>
          <p:cNvPr id="30" name="shape-59"/>
          <p:cNvSpPr/>
          <p:nvPr/>
        </p:nvSpPr>
        <p:spPr>
          <a:xfrm>
            <a:off x="6583680" y="40050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A3B"/>
          </a:solidFill>
          <a:ln w="12700">
            <a:solidFill>
              <a:srgbClr val="0B2A3B">
                <a:alpha val="0"/>
              </a:srgbClr>
            </a:solidFill>
            <a:prstDash val="solid"/>
          </a:ln>
        </p:spPr>
      </p:sp>
      <p:pic>
        <p:nvPicPr>
          <p:cNvPr id="31" name="icon-6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980" y="4119372"/>
            <a:ext cx="228600" cy="228600"/>
          </a:xfrm>
          <a:prstGeom prst="rect">
            <a:avLst/>
          </a:prstGeom>
        </p:spPr>
      </p:pic>
      <p:sp>
        <p:nvSpPr>
          <p:cNvPr id="32" name="text-61"/>
          <p:cNvSpPr txBox="1"/>
          <p:nvPr/>
        </p:nvSpPr>
        <p:spPr>
          <a:xfrm>
            <a:off x="7223760" y="3959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Evaluate Risk Signals</a:t>
            </a:r>
            <a:endParaRPr lang="en-US" sz="1500" dirty="0"/>
          </a:p>
        </p:txBody>
      </p:sp>
      <p:sp>
        <p:nvSpPr>
          <p:cNvPr id="33" name="text-62"/>
          <p:cNvSpPr txBox="1"/>
          <p:nvPr/>
        </p:nvSpPr>
        <p:spPr>
          <a:xfrm>
            <a:off x="7223760" y="4233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Assess configured name, branding, and publisher indicators to prioritize candidates for review.</a:t>
            </a:r>
            <a:endParaRPr lang="en-US" sz="1100" dirty="0"/>
          </a:p>
        </p:txBody>
      </p:sp>
      <p:sp>
        <p:nvSpPr>
          <p:cNvPr id="34" name="text-63"/>
          <p:cNvSpPr txBox="1"/>
          <p:nvPr/>
        </p:nvSpPr>
        <p:spPr>
          <a:xfrm>
            <a:off x="7223760" y="46542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</a:rPr>
              <a:t>Human review required</a:t>
            </a:r>
            <a:endParaRPr lang="en-US" sz="1100" dirty="0"/>
          </a:p>
        </p:txBody>
      </p:sp>
      <p:sp>
        <p:nvSpPr>
          <p:cNvPr id="35" name="shape-64"/>
          <p:cNvSpPr/>
          <p:nvPr/>
        </p:nvSpPr>
        <p:spPr>
          <a:xfrm>
            <a:off x="6583680" y="49469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A3B"/>
          </a:solidFill>
          <a:ln w="12700">
            <a:solidFill>
              <a:srgbClr val="0B2A3B">
                <a:alpha val="0"/>
              </a:srgbClr>
            </a:solidFill>
            <a:prstDash val="solid"/>
          </a:ln>
        </p:spPr>
      </p:sp>
      <p:pic>
        <p:nvPicPr>
          <p:cNvPr id="36" name="icon-6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7980" y="5061204"/>
            <a:ext cx="228600" cy="228600"/>
          </a:xfrm>
          <a:prstGeom prst="rect">
            <a:avLst/>
          </a:prstGeom>
        </p:spPr>
      </p:pic>
      <p:sp>
        <p:nvSpPr>
          <p:cNvPr id="37" name="text-66"/>
          <p:cNvSpPr txBox="1"/>
          <p:nvPr/>
        </p:nvSpPr>
        <p:spPr>
          <a:xfrm>
            <a:off x="7223760" y="4901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Investigate &amp; Report</a:t>
            </a:r>
            <a:endParaRPr lang="en-US" sz="1500" dirty="0"/>
          </a:p>
        </p:txBody>
      </p:sp>
      <p:sp>
        <p:nvSpPr>
          <p:cNvPr id="38" name="text-67"/>
          <p:cNvSpPr txBox="1"/>
          <p:nvPr/>
        </p:nvSpPr>
        <p:spPr>
          <a:xfrm>
            <a:off x="7223760" y="51755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Review findings, update investigation status, and prepare structured JSON evidence.</a:t>
            </a:r>
            <a:endParaRPr lang="en-US" sz="1100" dirty="0"/>
          </a:p>
        </p:txBody>
      </p:sp>
      <p:sp>
        <p:nvSpPr>
          <p:cNvPr id="39" name="text-68"/>
          <p:cNvSpPr txBox="1"/>
          <p:nvPr/>
        </p:nvSpPr>
        <p:spPr>
          <a:xfrm>
            <a:off x="7223760" y="5596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</a:rPr>
              <a:t>No automatic takedowns</a:t>
            </a:r>
            <a:endParaRPr lang="en-US" sz="1100" dirty="0"/>
          </a:p>
        </p:txBody>
      </p:sp>
      <p:sp>
        <p:nvSpPr>
          <p:cNvPr id="40" name="shape-69"/>
          <p:cNvSpPr/>
          <p:nvPr/>
        </p:nvSpPr>
        <p:spPr>
          <a:xfrm>
            <a:off x="685800" y="6016752"/>
            <a:ext cx="108173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-70"/>
          <p:cNvSpPr txBox="1"/>
          <p:nvPr/>
        </p:nvSpPr>
        <p:spPr>
          <a:xfrm>
            <a:off x="914400" y="6016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AegisAgent DRP demonstrates a structured workflow for evaluating potential external brand abuse without claiming live platform surveillance.</a:t>
            </a:r>
            <a:endParaRPr lang="en-US" sz="1100" dirty="0"/>
          </a:p>
        </p:txBody>
      </p:sp>
      <p:sp>
        <p:nvSpPr>
          <p:cNvPr id="42" name="text-71"/>
          <p:cNvSpPr txBox="1"/>
          <p:nvPr/>
        </p:nvSpPr>
        <p:spPr>
          <a:xfrm>
            <a:off x="8412480" y="6016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4C7"/>
                </a:solidFill>
              </a:rPr>
              <a:t>Transparent Prototype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72"/>
          <p:cNvSpPr txBox="1"/>
          <p:nvPr/>
        </p:nvSpPr>
        <p:spPr>
          <a:xfrm>
            <a:off x="685800" y="502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From Candidate Signal to Investigation</a:t>
            </a:r>
            <a:endParaRPr lang="en-US" sz="2800" dirty="0"/>
          </a:p>
        </p:txBody>
      </p:sp>
      <p:sp>
        <p:nvSpPr>
          <p:cNvPr id="3" name="pill-73"/>
          <p:cNvSpPr txBox="1"/>
          <p:nvPr/>
        </p:nvSpPr>
        <p:spPr>
          <a:xfrm>
            <a:off x="9354312" y="62179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WORKFLOW &amp; FEATURES</a:t>
            </a:r>
            <a:endParaRPr lang="en-US" sz="1100" dirty="0"/>
          </a:p>
        </p:txBody>
      </p:sp>
      <p:sp>
        <p:nvSpPr>
          <p:cNvPr id="4" name="shape-74"/>
          <p:cNvSpPr/>
          <p:nvPr/>
        </p:nvSpPr>
        <p:spPr>
          <a:xfrm>
            <a:off x="685800" y="1325880"/>
            <a:ext cx="10817352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-75"/>
          <p:cNvSpPr txBox="1"/>
          <p:nvPr/>
        </p:nvSpPr>
        <p:spPr>
          <a:xfrm>
            <a:off x="685800" y="1417320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STEP 01</a:t>
            </a:r>
            <a:endParaRPr lang="en-US" sz="1100" dirty="0"/>
          </a:p>
        </p:txBody>
      </p:sp>
      <p:sp>
        <p:nvSpPr>
          <p:cNvPr id="6" name="text-76"/>
          <p:cNvSpPr txBox="1"/>
          <p:nvPr/>
        </p:nvSpPr>
        <p:spPr>
          <a:xfrm>
            <a:off x="685800" y="1691640"/>
            <a:ext cx="21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Load Candidates</a:t>
            </a:r>
            <a:endParaRPr lang="en-US" sz="1300" dirty="0"/>
          </a:p>
        </p:txBody>
      </p:sp>
      <p:pic>
        <p:nvPicPr>
          <p:cNvPr id="7" name="icon-7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830" y="1618488"/>
            <a:ext cx="182880" cy="182880"/>
          </a:xfrm>
          <a:prstGeom prst="rect">
            <a:avLst/>
          </a:prstGeom>
        </p:spPr>
      </p:pic>
      <p:sp>
        <p:nvSpPr>
          <p:cNvPr id="8" name="text-78"/>
          <p:cNvSpPr txBox="1"/>
          <p:nvPr/>
        </p:nvSpPr>
        <p:spPr>
          <a:xfrm>
            <a:off x="2849270" y="1417320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STEP 02</a:t>
            </a:r>
            <a:endParaRPr lang="en-US" sz="1100" dirty="0"/>
          </a:p>
        </p:txBody>
      </p:sp>
      <p:sp>
        <p:nvSpPr>
          <p:cNvPr id="9" name="text-79"/>
          <p:cNvSpPr txBox="1"/>
          <p:nvPr/>
        </p:nvSpPr>
        <p:spPr>
          <a:xfrm>
            <a:off x="2849270" y="1691640"/>
            <a:ext cx="21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Normalize Signals</a:t>
            </a:r>
            <a:endParaRPr lang="en-US" sz="1300" dirty="0"/>
          </a:p>
        </p:txBody>
      </p:sp>
      <p:pic>
        <p:nvPicPr>
          <p:cNvPr id="10" name="icon-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01" y="1618488"/>
            <a:ext cx="182880" cy="182880"/>
          </a:xfrm>
          <a:prstGeom prst="rect">
            <a:avLst/>
          </a:prstGeom>
        </p:spPr>
      </p:pic>
      <p:sp>
        <p:nvSpPr>
          <p:cNvPr id="11" name="text-81"/>
          <p:cNvSpPr txBox="1"/>
          <p:nvPr/>
        </p:nvSpPr>
        <p:spPr>
          <a:xfrm>
            <a:off x="5012741" y="1417320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STEP 03</a:t>
            </a:r>
            <a:endParaRPr lang="en-US" sz="1100" dirty="0"/>
          </a:p>
        </p:txBody>
      </p:sp>
      <p:sp>
        <p:nvSpPr>
          <p:cNvPr id="12" name="text-82"/>
          <p:cNvSpPr txBox="1"/>
          <p:nvPr/>
        </p:nvSpPr>
        <p:spPr>
          <a:xfrm>
            <a:off x="5012741" y="1691640"/>
            <a:ext cx="21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Compare Brand Assets</a:t>
            </a:r>
            <a:endParaRPr lang="en-US" sz="1300" dirty="0"/>
          </a:p>
        </p:txBody>
      </p:sp>
      <p:pic>
        <p:nvPicPr>
          <p:cNvPr id="13" name="icon-8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1" y="1618488"/>
            <a:ext cx="182880" cy="182880"/>
          </a:xfrm>
          <a:prstGeom prst="rect">
            <a:avLst/>
          </a:prstGeom>
        </p:spPr>
      </p:pic>
      <p:sp>
        <p:nvSpPr>
          <p:cNvPr id="14" name="text-84"/>
          <p:cNvSpPr txBox="1"/>
          <p:nvPr/>
        </p:nvSpPr>
        <p:spPr>
          <a:xfrm>
            <a:off x="7176211" y="1417320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STEP 04</a:t>
            </a:r>
            <a:endParaRPr lang="en-US" sz="1100" dirty="0"/>
          </a:p>
        </p:txBody>
      </p:sp>
      <p:sp>
        <p:nvSpPr>
          <p:cNvPr id="15" name="text-85"/>
          <p:cNvSpPr txBox="1"/>
          <p:nvPr/>
        </p:nvSpPr>
        <p:spPr>
          <a:xfrm>
            <a:off x="7176211" y="1691640"/>
            <a:ext cx="21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Score &amp; Prioritize</a:t>
            </a:r>
            <a:endParaRPr lang="en-US" sz="1300" dirty="0"/>
          </a:p>
        </p:txBody>
      </p:sp>
      <p:pic>
        <p:nvPicPr>
          <p:cNvPr id="16" name="icon-8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242" y="1618488"/>
            <a:ext cx="182880" cy="182880"/>
          </a:xfrm>
          <a:prstGeom prst="rect">
            <a:avLst/>
          </a:prstGeom>
        </p:spPr>
      </p:pic>
      <p:sp>
        <p:nvSpPr>
          <p:cNvPr id="17" name="text-87"/>
          <p:cNvSpPr txBox="1"/>
          <p:nvPr/>
        </p:nvSpPr>
        <p:spPr>
          <a:xfrm>
            <a:off x="9339682" y="1417320"/>
            <a:ext cx="2163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STEP 05</a:t>
            </a:r>
            <a:endParaRPr lang="en-US" sz="1100" dirty="0"/>
          </a:p>
        </p:txBody>
      </p:sp>
      <p:sp>
        <p:nvSpPr>
          <p:cNvPr id="18" name="text-88"/>
          <p:cNvSpPr txBox="1"/>
          <p:nvPr/>
        </p:nvSpPr>
        <p:spPr>
          <a:xfrm>
            <a:off x="9339682" y="1691640"/>
            <a:ext cx="21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Review &amp; Report</a:t>
            </a:r>
            <a:endParaRPr lang="en-US" sz="1300" dirty="0"/>
          </a:p>
        </p:txBody>
      </p:sp>
      <p:sp>
        <p:nvSpPr>
          <p:cNvPr id="19" name="text-89"/>
          <p:cNvSpPr txBox="1"/>
          <p:nvPr/>
        </p:nvSpPr>
        <p:spPr>
          <a:xfrm>
            <a:off x="685800" y="242316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The prototype organizes candidate evaluation and evidence review. Monitoring runs use synthetic demo fixtures; analysts review the resulting findings rather than relying on unverified automated accusations.</a:t>
            </a:r>
            <a:endParaRPr lang="en-US" sz="1400" dirty="0"/>
          </a:p>
        </p:txBody>
      </p:sp>
      <p:sp>
        <p:nvSpPr>
          <p:cNvPr id="20" name="shape-90"/>
          <p:cNvSpPr/>
          <p:nvPr/>
        </p:nvSpPr>
        <p:spPr>
          <a:xfrm>
            <a:off x="685800" y="338328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-91"/>
          <p:cNvSpPr/>
          <p:nvPr/>
        </p:nvSpPr>
        <p:spPr>
          <a:xfrm>
            <a:off x="868680" y="3584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pic>
        <p:nvPicPr>
          <p:cNvPr id="22" name="icon-9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698748"/>
            <a:ext cx="228600" cy="228600"/>
          </a:xfrm>
          <a:prstGeom prst="rect">
            <a:avLst/>
          </a:prstGeom>
        </p:spPr>
      </p:pic>
      <p:sp>
        <p:nvSpPr>
          <p:cNvPr id="23" name="text-93"/>
          <p:cNvSpPr txBox="1"/>
          <p:nvPr/>
        </p:nvSpPr>
        <p:spPr>
          <a:xfrm>
            <a:off x="1508760" y="3474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Look-alike Name Signals</a:t>
            </a:r>
            <a:endParaRPr lang="en-US" sz="1400" dirty="0"/>
          </a:p>
        </p:txBody>
      </p:sp>
      <p:sp>
        <p:nvSpPr>
          <p:cNvPr id="24" name="text-94"/>
          <p:cNvSpPr txBox="1"/>
          <p:nvPr/>
        </p:nvSpPr>
        <p:spPr>
          <a:xfrm>
            <a:off x="1508760" y="3767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Configured checks can highlight similar names, added words, or spacing and delimiter changes. Detection quality depends on the available candidate data and rules.</a:t>
            </a:r>
            <a:endParaRPr lang="en-US" sz="1200" dirty="0"/>
          </a:p>
        </p:txBody>
      </p:sp>
      <p:sp>
        <p:nvSpPr>
          <p:cNvPr id="25" name="shape-95"/>
          <p:cNvSpPr/>
          <p:nvPr/>
        </p:nvSpPr>
        <p:spPr>
          <a:xfrm>
            <a:off x="685800" y="4325112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-96"/>
          <p:cNvSpPr/>
          <p:nvPr/>
        </p:nvSpPr>
        <p:spPr>
          <a:xfrm>
            <a:off x="868680" y="4526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pic>
        <p:nvPicPr>
          <p:cNvPr id="27" name="icon-9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640580"/>
            <a:ext cx="228600" cy="228600"/>
          </a:xfrm>
          <a:prstGeom prst="rect">
            <a:avLst/>
          </a:prstGeom>
        </p:spPr>
      </p:pic>
      <p:sp>
        <p:nvSpPr>
          <p:cNvPr id="28" name="text-98"/>
          <p:cNvSpPr txBox="1"/>
          <p:nvPr/>
        </p:nvSpPr>
        <p:spPr>
          <a:xfrm>
            <a:off x="150876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Branding Indicators</a:t>
            </a:r>
            <a:endParaRPr lang="en-US" sz="1400" dirty="0"/>
          </a:p>
        </p:txBody>
      </p:sp>
      <p:sp>
        <p:nvSpPr>
          <p:cNvPr id="29" name="text-99"/>
          <p:cNvSpPr txBox="1"/>
          <p:nvPr/>
        </p:nvSpPr>
        <p:spPr>
          <a:xfrm>
            <a:off x="1508760" y="4709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Candidate branding indicators can support triage when configured. Do not interpret a similarity score as proof of impersonation.</a:t>
            </a:r>
            <a:endParaRPr lang="en-US" sz="1200" dirty="0"/>
          </a:p>
        </p:txBody>
      </p:sp>
      <p:sp>
        <p:nvSpPr>
          <p:cNvPr id="30" name="shape-100"/>
          <p:cNvSpPr/>
          <p:nvPr/>
        </p:nvSpPr>
        <p:spPr>
          <a:xfrm>
            <a:off x="685800" y="5266944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-101"/>
          <p:cNvSpPr/>
          <p:nvPr/>
        </p:nvSpPr>
        <p:spPr>
          <a:xfrm>
            <a:off x="868680" y="54681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pic>
        <p:nvPicPr>
          <p:cNvPr id="32" name="icon-10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5582412"/>
            <a:ext cx="228600" cy="228600"/>
          </a:xfrm>
          <a:prstGeom prst="rect">
            <a:avLst/>
          </a:prstGeom>
        </p:spPr>
      </p:pic>
      <p:sp>
        <p:nvSpPr>
          <p:cNvPr id="33" name="text-103"/>
          <p:cNvSpPr txBox="1"/>
          <p:nvPr/>
        </p:nvSpPr>
        <p:spPr>
          <a:xfrm>
            <a:off x="1508760" y="53583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Publisher &amp; App Signals</a:t>
            </a:r>
            <a:endParaRPr lang="en-US" sz="1400" dirty="0"/>
          </a:p>
        </p:txBody>
      </p:sp>
      <p:sp>
        <p:nvSpPr>
          <p:cNvPr id="34" name="text-104"/>
          <p:cNvSpPr txBox="1"/>
          <p:nvPr/>
        </p:nvSpPr>
        <p:spPr>
          <a:xfrm>
            <a:off x="1508760" y="5650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App monitoring fixtures demonstrate checks such as publisher inconsistency and suspicious descriptions. This prototype does not claim to decompile live APKs.</a:t>
            </a:r>
            <a:endParaRPr lang="en-US" sz="1200" dirty="0"/>
          </a:p>
        </p:txBody>
      </p:sp>
      <p:sp>
        <p:nvSpPr>
          <p:cNvPr id="35" name="shape-105"/>
          <p:cNvSpPr/>
          <p:nvPr/>
        </p:nvSpPr>
        <p:spPr>
          <a:xfrm>
            <a:off x="6217920" y="2423160"/>
            <a:ext cx="5285232" cy="374904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6" name="text-106"/>
          <p:cNvSpPr txBox="1"/>
          <p:nvPr/>
        </p:nvSpPr>
        <p:spPr>
          <a:xfrm>
            <a:off x="649224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FINDINGS • ILLUSTRATIVE</a:t>
            </a:r>
            <a:endParaRPr lang="en-US" sz="1100" dirty="0"/>
          </a:p>
        </p:txBody>
      </p:sp>
      <p:sp>
        <p:nvSpPr>
          <p:cNvPr id="37" name="pill-107"/>
          <p:cNvSpPr txBox="1"/>
          <p:nvPr/>
        </p:nvSpPr>
        <p:spPr>
          <a:xfrm>
            <a:off x="9601200" y="260604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 w="9525">
            <a:solidFill>
              <a:srgbClr val="DC262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</a:rPr>
              <a:t>Review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492240" y="3108960"/>
            <a:ext cx="4736592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9" name="shape-108"/>
          <p:cNvSpPr/>
          <p:nvPr/>
        </p:nvSpPr>
        <p:spPr>
          <a:xfrm>
            <a:off x="6492240" y="3310128"/>
            <a:ext cx="4736592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40" name="text-109"/>
          <p:cNvSpPr txBox="1"/>
          <p:nvPr/>
        </p:nvSpPr>
        <p:spPr>
          <a:xfrm>
            <a:off x="6675120" y="331012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Suspicious app candidate</a:t>
            </a:r>
            <a:endParaRPr lang="en-US" sz="1300" dirty="0"/>
          </a:p>
        </p:txBody>
      </p:sp>
      <p:sp>
        <p:nvSpPr>
          <p:cNvPr id="41" name="text-110"/>
          <p:cNvSpPr txBox="1"/>
          <p:nvPr/>
        </p:nvSpPr>
        <p:spPr>
          <a:xfrm>
            <a:off x="9966960" y="331012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7171"/>
                </a:solidFill>
              </a:rPr>
              <a:t>App</a:t>
            </a:r>
            <a:endParaRPr lang="en-US" sz="1300" dirty="0"/>
          </a:p>
        </p:txBody>
      </p:sp>
      <p:sp>
        <p:nvSpPr>
          <p:cNvPr id="42" name="shape-111"/>
          <p:cNvSpPr/>
          <p:nvPr/>
        </p:nvSpPr>
        <p:spPr>
          <a:xfrm>
            <a:off x="6492240" y="3931920"/>
            <a:ext cx="4736592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43" name="text-112"/>
          <p:cNvSpPr txBox="1"/>
          <p:nvPr/>
        </p:nvSpPr>
        <p:spPr>
          <a:xfrm>
            <a:off x="6675120" y="39319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Look-alike profile</a:t>
            </a:r>
            <a:endParaRPr lang="en-US" sz="1300" dirty="0"/>
          </a:p>
        </p:txBody>
      </p:sp>
      <p:sp>
        <p:nvSpPr>
          <p:cNvPr id="44" name="text-113"/>
          <p:cNvSpPr txBox="1"/>
          <p:nvPr/>
        </p:nvSpPr>
        <p:spPr>
          <a:xfrm>
            <a:off x="9966960" y="393192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BF24"/>
                </a:solidFill>
              </a:rPr>
              <a:t>Social</a:t>
            </a:r>
            <a:endParaRPr lang="en-US" sz="1300" dirty="0"/>
          </a:p>
        </p:txBody>
      </p:sp>
      <p:sp>
        <p:nvSpPr>
          <p:cNvPr id="45" name="shape-114"/>
          <p:cNvSpPr/>
          <p:nvPr/>
        </p:nvSpPr>
        <p:spPr>
          <a:xfrm>
            <a:off x="6492240" y="4553712"/>
            <a:ext cx="4736592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46" name="text-115"/>
          <p:cNvSpPr txBox="1"/>
          <p:nvPr/>
        </p:nvSpPr>
        <p:spPr>
          <a:xfrm>
            <a:off x="6675120" y="455371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Branding mismatch</a:t>
            </a:r>
            <a:endParaRPr lang="en-US" sz="1300" dirty="0"/>
          </a:p>
        </p:txBody>
      </p:sp>
      <p:sp>
        <p:nvSpPr>
          <p:cNvPr id="47" name="text-116"/>
          <p:cNvSpPr txBox="1"/>
          <p:nvPr/>
        </p:nvSpPr>
        <p:spPr>
          <a:xfrm>
            <a:off x="9966960" y="455371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0A5FA"/>
                </a:solidFill>
              </a:rPr>
              <a:t>Review</a:t>
            </a:r>
            <a:endParaRPr lang="en-US" sz="1300" dirty="0"/>
          </a:p>
        </p:txBody>
      </p:sp>
      <p:sp>
        <p:nvSpPr>
          <p:cNvPr id="48" name="shape-117"/>
          <p:cNvSpPr/>
          <p:nvPr/>
        </p:nvSpPr>
        <p:spPr>
          <a:xfrm>
            <a:off x="6492240" y="5175504"/>
            <a:ext cx="4736592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49" name="text-118"/>
          <p:cNvSpPr txBox="1"/>
          <p:nvPr/>
        </p:nvSpPr>
        <p:spPr>
          <a:xfrm>
            <a:off x="6675120" y="517550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Possible false positive</a:t>
            </a:r>
            <a:endParaRPr lang="en-US" sz="1300" dirty="0"/>
          </a:p>
        </p:txBody>
      </p:sp>
      <p:sp>
        <p:nvSpPr>
          <p:cNvPr id="50" name="text-119"/>
          <p:cNvSpPr txBox="1"/>
          <p:nvPr/>
        </p:nvSpPr>
        <p:spPr>
          <a:xfrm>
            <a:off x="9966960" y="5175504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</a:rPr>
              <a:t>Check</a:t>
            </a:r>
            <a:endParaRPr lang="en-US" sz="1300" dirty="0"/>
          </a:p>
        </p:txBody>
      </p:sp>
      <p:sp>
        <p:nvSpPr>
          <p:cNvPr id="51" name="text-120"/>
          <p:cNvSpPr txBox="1"/>
          <p:nvPr/>
        </p:nvSpPr>
        <p:spPr>
          <a:xfrm>
            <a:off x="6492240" y="576072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Analyst review required • Source: Synthetic demo fixtures</a:t>
            </a:r>
            <a:endParaRPr lang="en-US" sz="10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1"/>
          <p:cNvSpPr txBox="1"/>
          <p:nvPr/>
        </p:nvSpPr>
        <p:spPr>
          <a:xfrm>
            <a:off x="685800" y="502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 Architecture &amp; Role-Oriented Interfaces</a:t>
            </a:r>
            <a:endParaRPr lang="en-US" sz="2800" dirty="0"/>
          </a:p>
        </p:txBody>
      </p:sp>
      <p:sp>
        <p:nvSpPr>
          <p:cNvPr id="3" name="pill-122"/>
          <p:cNvSpPr txBox="1"/>
          <p:nvPr/>
        </p:nvSpPr>
        <p:spPr>
          <a:xfrm>
            <a:off x="9308592" y="62179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shape-123"/>
          <p:cNvSpPr/>
          <p:nvPr/>
        </p:nvSpPr>
        <p:spPr>
          <a:xfrm>
            <a:off x="685800" y="1371600"/>
            <a:ext cx="2057400" cy="1188720"/>
          </a:xfrm>
          <a:prstGeom prst="roundRect">
            <a:avLst>
              <a:gd name="adj" fmla="val 10769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5" name="icon-1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81328"/>
            <a:ext cx="237744" cy="237744"/>
          </a:xfrm>
          <a:prstGeom prst="rect">
            <a:avLst/>
          </a:prstGeom>
        </p:spPr>
      </p:pic>
      <p:sp>
        <p:nvSpPr>
          <p:cNvPr id="6" name="text-125"/>
          <p:cNvSpPr txBox="1"/>
          <p:nvPr/>
        </p:nvSpPr>
        <p:spPr>
          <a:xfrm>
            <a:off x="68580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-126"/>
          <p:cNvSpPr txBox="1"/>
          <p:nvPr/>
        </p:nvSpPr>
        <p:spPr>
          <a:xfrm>
            <a:off x="777240" y="2121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React · Vite</a:t>
            </a:r>
            <a:endParaRPr lang="en-US" sz="1100" dirty="0"/>
          </a:p>
        </p:txBody>
      </p:sp>
      <p:sp>
        <p:nvSpPr>
          <p:cNvPr id="8" name="shape-127"/>
          <p:cNvSpPr/>
          <p:nvPr/>
        </p:nvSpPr>
        <p:spPr>
          <a:xfrm>
            <a:off x="5065776" y="1371600"/>
            <a:ext cx="2057400" cy="1188720"/>
          </a:xfrm>
          <a:prstGeom prst="roundRect">
            <a:avLst>
              <a:gd name="adj" fmla="val 10769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9" name="icon-12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481328"/>
            <a:ext cx="237744" cy="237744"/>
          </a:xfrm>
          <a:prstGeom prst="rect">
            <a:avLst/>
          </a:prstGeom>
        </p:spPr>
      </p:pic>
      <p:sp>
        <p:nvSpPr>
          <p:cNvPr id="10" name="text-129"/>
          <p:cNvSpPr txBox="1"/>
          <p:nvPr/>
        </p:nvSpPr>
        <p:spPr>
          <a:xfrm>
            <a:off x="5065776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11" name="text-130"/>
          <p:cNvSpPr txBox="1"/>
          <p:nvPr/>
        </p:nvSpPr>
        <p:spPr>
          <a:xfrm>
            <a:off x="5157216" y="2121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Python · FastAPI</a:t>
            </a:r>
            <a:endParaRPr lang="en-US" sz="1100" dirty="0"/>
          </a:p>
        </p:txBody>
      </p:sp>
      <p:sp>
        <p:nvSpPr>
          <p:cNvPr id="12" name="shape-131"/>
          <p:cNvSpPr/>
          <p:nvPr/>
        </p:nvSpPr>
        <p:spPr>
          <a:xfrm>
            <a:off x="9445752" y="1371600"/>
            <a:ext cx="2057400" cy="1188720"/>
          </a:xfrm>
          <a:prstGeom prst="roundRect">
            <a:avLst>
              <a:gd name="adj" fmla="val 10769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3" name="icon-13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481328"/>
            <a:ext cx="237744" cy="237744"/>
          </a:xfrm>
          <a:prstGeom prst="rect">
            <a:avLst/>
          </a:prstGeom>
        </p:spPr>
      </p:pic>
      <p:sp>
        <p:nvSpPr>
          <p:cNvPr id="14" name="text-133"/>
          <p:cNvSpPr txBox="1"/>
          <p:nvPr/>
        </p:nvSpPr>
        <p:spPr>
          <a:xfrm>
            <a:off x="9445752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15" name="text-134"/>
          <p:cNvSpPr txBox="1"/>
          <p:nvPr/>
        </p:nvSpPr>
        <p:spPr>
          <a:xfrm>
            <a:off x="9537192" y="2121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SQLite</a:t>
            </a:r>
            <a:endParaRPr lang="en-US" sz="1100" dirty="0"/>
          </a:p>
        </p:txBody>
      </p:sp>
      <p:pic>
        <p:nvPicPr>
          <p:cNvPr id="16" name="icon-13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1874520"/>
            <a:ext cx="201168" cy="201168"/>
          </a:xfrm>
          <a:prstGeom prst="rect">
            <a:avLst/>
          </a:prstGeom>
        </p:spPr>
      </p:pic>
      <p:pic>
        <p:nvPicPr>
          <p:cNvPr id="17" name="icon-13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1874520"/>
            <a:ext cx="201168" cy="201168"/>
          </a:xfrm>
          <a:prstGeom prst="rect">
            <a:avLst/>
          </a:prstGeom>
        </p:spPr>
      </p:pic>
      <p:sp>
        <p:nvSpPr>
          <p:cNvPr id="18" name="shape-137"/>
          <p:cNvSpPr/>
          <p:nvPr/>
        </p:nvSpPr>
        <p:spPr>
          <a:xfrm>
            <a:off x="685800" y="2834640"/>
            <a:ext cx="5285232" cy="3063240"/>
          </a:xfrm>
          <a:prstGeom prst="roundRect">
            <a:avLst>
              <a:gd name="adj" fmla="val 4179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9" name="icon-13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017520"/>
            <a:ext cx="237744" cy="237744"/>
          </a:xfrm>
          <a:prstGeom prst="rect">
            <a:avLst/>
          </a:prstGeom>
        </p:spPr>
      </p:pic>
      <p:sp>
        <p:nvSpPr>
          <p:cNvPr id="20" name="text-139"/>
          <p:cNvSpPr txBox="1"/>
          <p:nvPr/>
        </p:nvSpPr>
        <p:spPr>
          <a:xfrm>
            <a:off x="1280160" y="29809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</a:rPr>
              <a:t>Role-Oriented Application Areas</a:t>
            </a:r>
            <a:endParaRPr lang="en-US" sz="1500" dirty="0"/>
          </a:p>
        </p:txBody>
      </p:sp>
      <p:sp>
        <p:nvSpPr>
          <p:cNvPr id="21" name="pill-140"/>
          <p:cNvSpPr txBox="1"/>
          <p:nvPr/>
        </p:nvSpPr>
        <p:spPr>
          <a:xfrm>
            <a:off x="914400" y="35661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/analyst</a:t>
            </a:r>
            <a:endParaRPr lang="en-US" sz="1000" dirty="0"/>
          </a:p>
        </p:txBody>
      </p:sp>
      <p:sp>
        <p:nvSpPr>
          <p:cNvPr id="22" name="text-141"/>
          <p:cNvSpPr txBox="1"/>
          <p:nvPr/>
        </p:nvSpPr>
        <p:spPr>
          <a:xfrm>
            <a:off x="205740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Analyst</a:t>
            </a:r>
            <a:endParaRPr lang="en-US" sz="1300" dirty="0"/>
          </a:p>
        </p:txBody>
      </p:sp>
      <p:sp>
        <p:nvSpPr>
          <p:cNvPr id="23" name="text-142"/>
          <p:cNvSpPr txBox="1"/>
          <p:nvPr/>
        </p:nvSpPr>
        <p:spPr>
          <a:xfrm>
            <a:off x="2057400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Monitoring runs, findings, review status, evidence docket</a:t>
            </a:r>
            <a:endParaRPr lang="en-US" sz="1100" dirty="0"/>
          </a:p>
        </p:txBody>
      </p:sp>
      <p:sp>
        <p:nvSpPr>
          <p:cNvPr id="24" name="pill-143"/>
          <p:cNvSpPr txBox="1"/>
          <p:nvPr/>
        </p:nvSpPr>
        <p:spPr>
          <a:xfrm>
            <a:off x="914400" y="415137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/legal</a:t>
            </a:r>
            <a:endParaRPr lang="en-US" sz="1000" dirty="0"/>
          </a:p>
        </p:txBody>
      </p:sp>
      <p:sp>
        <p:nvSpPr>
          <p:cNvPr id="25" name="text-144"/>
          <p:cNvSpPr txBox="1"/>
          <p:nvPr/>
        </p:nvSpPr>
        <p:spPr>
          <a:xfrm>
            <a:off x="205740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Legal Workflow</a:t>
            </a:r>
            <a:endParaRPr lang="en-US" sz="1300" dirty="0"/>
          </a:p>
        </p:txBody>
      </p:sp>
      <p:sp>
        <p:nvSpPr>
          <p:cNvPr id="26" name="text-145"/>
          <p:cNvSpPr txBox="1"/>
          <p:nvPr/>
        </p:nvSpPr>
        <p:spPr>
          <a:xfrm>
            <a:off x="205740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Takedown-preparation and evidence review; no external dispatch</a:t>
            </a:r>
            <a:endParaRPr lang="en-US" sz="1100" dirty="0"/>
          </a:p>
        </p:txBody>
      </p:sp>
      <p:sp>
        <p:nvSpPr>
          <p:cNvPr id="27" name="pill-146"/>
          <p:cNvSpPr txBox="1"/>
          <p:nvPr/>
        </p:nvSpPr>
        <p:spPr>
          <a:xfrm>
            <a:off x="914400" y="473659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/support</a:t>
            </a:r>
            <a:endParaRPr lang="en-US" sz="1000" dirty="0"/>
          </a:p>
        </p:txBody>
      </p:sp>
      <p:sp>
        <p:nvSpPr>
          <p:cNvPr id="28" name="text-147"/>
          <p:cNvSpPr txBox="1"/>
          <p:nvPr/>
        </p:nvSpPr>
        <p:spPr>
          <a:xfrm>
            <a:off x="2057400" y="4645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Support</a:t>
            </a:r>
            <a:endParaRPr lang="en-US" sz="1300" dirty="0"/>
          </a:p>
        </p:txBody>
      </p:sp>
      <p:sp>
        <p:nvSpPr>
          <p:cNvPr id="29" name="text-148"/>
          <p:cNvSpPr txBox="1"/>
          <p:nvPr/>
        </p:nvSpPr>
        <p:spPr>
          <a:xfrm>
            <a:off x="2057400" y="4901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Official-asset lookup and customer guidance workflows</a:t>
            </a:r>
            <a:endParaRPr lang="en-US" sz="1100" dirty="0"/>
          </a:p>
        </p:txBody>
      </p:sp>
      <p:sp>
        <p:nvSpPr>
          <p:cNvPr id="30" name="pill-149"/>
          <p:cNvSpPr txBox="1"/>
          <p:nvPr/>
        </p:nvSpPr>
        <p:spPr>
          <a:xfrm>
            <a:off x="914400" y="532180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/executive</a:t>
            </a:r>
            <a:endParaRPr lang="en-US" sz="1000" dirty="0"/>
          </a:p>
        </p:txBody>
      </p:sp>
      <p:sp>
        <p:nvSpPr>
          <p:cNvPr id="31" name="text-150"/>
          <p:cNvSpPr txBox="1"/>
          <p:nvPr/>
        </p:nvSpPr>
        <p:spPr>
          <a:xfrm>
            <a:off x="2057400" y="5230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Executive View</a:t>
            </a:r>
            <a:endParaRPr lang="en-US" sz="1300" dirty="0"/>
          </a:p>
        </p:txBody>
      </p:sp>
      <p:sp>
        <p:nvSpPr>
          <p:cNvPr id="32" name="text-151"/>
          <p:cNvSpPr txBox="1"/>
          <p:nvPr/>
        </p:nvSpPr>
        <p:spPr>
          <a:xfrm>
            <a:off x="2057400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Risk summaries and operational reporting demonstrations</a:t>
            </a:r>
            <a:endParaRPr lang="en-US" sz="1100" dirty="0"/>
          </a:p>
        </p:txBody>
      </p:sp>
      <p:sp>
        <p:nvSpPr>
          <p:cNvPr id="33" name="shape-152"/>
          <p:cNvSpPr/>
          <p:nvPr/>
        </p:nvSpPr>
        <p:spPr>
          <a:xfrm>
            <a:off x="6217920" y="2834640"/>
            <a:ext cx="5285232" cy="3063240"/>
          </a:xfrm>
          <a:prstGeom prst="roundRect">
            <a:avLst>
              <a:gd name="adj" fmla="val 4179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4" name="icon-15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017520"/>
            <a:ext cx="237744" cy="237744"/>
          </a:xfrm>
          <a:prstGeom prst="rect">
            <a:avLst/>
          </a:prstGeom>
        </p:spPr>
      </p:pic>
      <p:sp>
        <p:nvSpPr>
          <p:cNvPr id="35" name="text-154"/>
          <p:cNvSpPr txBox="1"/>
          <p:nvPr/>
        </p:nvSpPr>
        <p:spPr>
          <a:xfrm>
            <a:off x="6812280" y="29809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</a:rPr>
              <a:t>Verification &amp; Evidence</a:t>
            </a:r>
            <a:endParaRPr lang="en-US" sz="1500" dirty="0"/>
          </a:p>
        </p:txBody>
      </p:sp>
      <p:sp>
        <p:nvSpPr>
          <p:cNvPr id="36" name="text-155"/>
          <p:cNvSpPr txBox="1"/>
          <p:nvPr/>
        </p:nvSpPr>
        <p:spPr>
          <a:xfrm>
            <a:off x="6446520" y="3474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API supports configured brand profiles, monitoring runs, findings, status updates, and JSON evidence reporting. Verify current endpoints in the interactive API documentation.</a:t>
            </a:r>
            <a:endParaRPr lang="en-US" sz="1300" dirty="0"/>
          </a:p>
        </p:txBody>
      </p:sp>
      <p:sp>
        <p:nvSpPr>
          <p:cNvPr id="37" name="pill-156"/>
          <p:cNvSpPr txBox="1"/>
          <p:nvPr/>
        </p:nvSpPr>
        <p:spPr>
          <a:xfrm>
            <a:off x="6446520" y="434340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Documentation</a:t>
            </a:r>
            <a:endParaRPr lang="en-US" sz="1100" dirty="0"/>
          </a:p>
        </p:txBody>
      </p:sp>
      <p:sp>
        <p:nvSpPr>
          <p:cNvPr id="38" name="text-157"/>
          <p:cNvSpPr txBox="1"/>
          <p:nvPr/>
        </p:nvSpPr>
        <p:spPr>
          <a:xfrm>
            <a:off x="64465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https://aegisagent-drp.onrender.com/docs</a:t>
            </a:r>
            <a:endParaRPr lang="en-US" sz="1300" dirty="0"/>
          </a:p>
        </p:txBody>
      </p:sp>
      <p:sp>
        <p:nvSpPr>
          <p:cNvPr id="39" name="text-158"/>
          <p:cNvSpPr txBox="1"/>
          <p:nvPr/>
        </p:nvSpPr>
        <p:spPr>
          <a:xfrm>
            <a:off x="6446520" y="5349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Legal interface prepares review material; it does not automatically submit takedown requests to external platforms.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85800" y="6053328"/>
            <a:ext cx="10817352" cy="0"/>
          </a:xfrm>
          <a:prstGeom prst="line">
            <a:avLst/>
          </a:prstGeom>
          <a:noFill/>
          <a:ln w="9525">
            <a:solidFill>
              <a:srgbClr val="1E2A3B"/>
            </a:solidFill>
            <a:prstDash val="solid"/>
          </a:ln>
        </p:spPr>
      </p:sp>
      <p:pic>
        <p:nvPicPr>
          <p:cNvPr id="41" name="icon-15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217920"/>
            <a:ext cx="146304" cy="146304"/>
          </a:xfrm>
          <a:prstGeom prst="rect">
            <a:avLst/>
          </a:prstGeom>
        </p:spPr>
      </p:pic>
      <p:sp>
        <p:nvSpPr>
          <p:cNvPr id="42" name="text-160"/>
          <p:cNvSpPr txBox="1"/>
          <p:nvPr/>
        </p:nvSpPr>
        <p:spPr>
          <a:xfrm>
            <a:off x="941832" y="6144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Demo authentication</a:t>
            </a:r>
            <a:endParaRPr lang="en-US" sz="1100" dirty="0"/>
          </a:p>
        </p:txBody>
      </p:sp>
      <p:pic>
        <p:nvPicPr>
          <p:cNvPr id="43" name="icon-16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6217920"/>
            <a:ext cx="146304" cy="146304"/>
          </a:xfrm>
          <a:prstGeom prst="rect">
            <a:avLst/>
          </a:prstGeom>
        </p:spPr>
      </p:pic>
      <p:sp>
        <p:nvSpPr>
          <p:cNvPr id="44" name="text-162"/>
          <p:cNvSpPr txBox="1"/>
          <p:nvPr/>
        </p:nvSpPr>
        <p:spPr>
          <a:xfrm>
            <a:off x="3776472" y="6144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Human review workflow</a:t>
            </a:r>
            <a:endParaRPr lang="en-US" sz="1100" dirty="0"/>
          </a:p>
        </p:txBody>
      </p:sp>
      <p:pic>
        <p:nvPicPr>
          <p:cNvPr id="45" name="icon-16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6217920"/>
            <a:ext cx="146304" cy="146304"/>
          </a:xfrm>
          <a:prstGeom prst="rect">
            <a:avLst/>
          </a:prstGeom>
        </p:spPr>
      </p:pic>
      <p:sp>
        <p:nvSpPr>
          <p:cNvPr id="46" name="text-164"/>
          <p:cNvSpPr txBox="1"/>
          <p:nvPr/>
        </p:nvSpPr>
        <p:spPr>
          <a:xfrm>
            <a:off x="6611112" y="6144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Frontend and backend tests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5"/>
          <p:cNvSpPr txBox="1"/>
          <p:nvPr/>
        </p:nvSpPr>
        <p:spPr>
          <a:xfrm>
            <a:off x="685800" y="502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Prototype Feasibility &amp; Evaluation Priorities</a:t>
            </a:r>
            <a:endParaRPr lang="en-US" sz="2800" dirty="0"/>
          </a:p>
        </p:txBody>
      </p:sp>
      <p:sp>
        <p:nvSpPr>
          <p:cNvPr id="3" name="pill-166"/>
          <p:cNvSpPr txBox="1"/>
          <p:nvPr/>
        </p:nvSpPr>
        <p:spPr>
          <a:xfrm>
            <a:off x="9400032" y="621792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WHAT IS DEMONSTRATED</a:t>
            </a:r>
            <a:endParaRPr lang="en-US" sz="1100" dirty="0"/>
          </a:p>
        </p:txBody>
      </p:sp>
      <p:sp>
        <p:nvSpPr>
          <p:cNvPr id="4" name="shape-167"/>
          <p:cNvSpPr/>
          <p:nvPr/>
        </p:nvSpPr>
        <p:spPr>
          <a:xfrm>
            <a:off x="685800" y="1371600"/>
            <a:ext cx="25603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-168"/>
          <p:cNvSpPr txBox="1"/>
          <p:nvPr/>
        </p:nvSpPr>
        <p:spPr>
          <a:xfrm>
            <a:off x="68580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4C7"/>
                </a:solidFill>
              </a:rPr>
              <a:t>2</a:t>
            </a:r>
            <a:endParaRPr lang="en-US" sz="2600" dirty="0"/>
          </a:p>
        </p:txBody>
      </p:sp>
      <p:sp>
        <p:nvSpPr>
          <p:cNvPr id="6" name="text-169"/>
          <p:cNvSpPr txBox="1"/>
          <p:nvPr/>
        </p:nvSpPr>
        <p:spPr>
          <a:xfrm>
            <a:off x="685800" y="19202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Monitoring paths</a:t>
            </a:r>
            <a:endParaRPr lang="en-US" sz="1200" dirty="0"/>
          </a:p>
        </p:txBody>
      </p:sp>
      <p:sp>
        <p:nvSpPr>
          <p:cNvPr id="7" name="text-170"/>
          <p:cNvSpPr txBox="1"/>
          <p:nvPr/>
        </p:nvSpPr>
        <p:spPr>
          <a:xfrm>
            <a:off x="685800" y="2176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Social and app demo workflows</a:t>
            </a:r>
            <a:endParaRPr lang="en-US" sz="1000" dirty="0"/>
          </a:p>
        </p:txBody>
      </p:sp>
      <p:sp>
        <p:nvSpPr>
          <p:cNvPr id="8" name="shape-171"/>
          <p:cNvSpPr/>
          <p:nvPr/>
        </p:nvSpPr>
        <p:spPr>
          <a:xfrm>
            <a:off x="3438144" y="1371600"/>
            <a:ext cx="25603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-172"/>
          <p:cNvSpPr txBox="1"/>
          <p:nvPr/>
        </p:nvSpPr>
        <p:spPr>
          <a:xfrm>
            <a:off x="3438144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Risk</a:t>
            </a:r>
            <a:endParaRPr lang="en-US" sz="2600" dirty="0"/>
          </a:p>
        </p:txBody>
      </p:sp>
      <p:sp>
        <p:nvSpPr>
          <p:cNvPr id="10" name="text-173"/>
          <p:cNvSpPr txBox="1"/>
          <p:nvPr/>
        </p:nvSpPr>
        <p:spPr>
          <a:xfrm>
            <a:off x="3438144" y="19202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Configurable signals</a:t>
            </a:r>
            <a:endParaRPr lang="en-US" sz="1200" dirty="0"/>
          </a:p>
        </p:txBody>
      </p:sp>
      <p:sp>
        <p:nvSpPr>
          <p:cNvPr id="11" name="text-174"/>
          <p:cNvSpPr txBox="1"/>
          <p:nvPr/>
        </p:nvSpPr>
        <p:spPr>
          <a:xfrm>
            <a:off x="3438144" y="2176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Findings for analyst review</a:t>
            </a:r>
            <a:endParaRPr lang="en-US" sz="1000" dirty="0"/>
          </a:p>
        </p:txBody>
      </p:sp>
      <p:sp>
        <p:nvSpPr>
          <p:cNvPr id="12" name="shape-175"/>
          <p:cNvSpPr/>
          <p:nvPr/>
        </p:nvSpPr>
        <p:spPr>
          <a:xfrm>
            <a:off x="6190488" y="1371600"/>
            <a:ext cx="25603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-176"/>
          <p:cNvSpPr txBox="1"/>
          <p:nvPr/>
        </p:nvSpPr>
        <p:spPr>
          <a:xfrm>
            <a:off x="6190488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</a:rPr>
              <a:t>JSON</a:t>
            </a:r>
            <a:endParaRPr lang="en-US" sz="2600" dirty="0"/>
          </a:p>
        </p:txBody>
      </p:sp>
      <p:sp>
        <p:nvSpPr>
          <p:cNvPr id="14" name="text-177"/>
          <p:cNvSpPr txBox="1"/>
          <p:nvPr/>
        </p:nvSpPr>
        <p:spPr>
          <a:xfrm>
            <a:off x="6190488" y="19202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Evidence reporting</a:t>
            </a:r>
            <a:endParaRPr lang="en-US" sz="1200" dirty="0"/>
          </a:p>
        </p:txBody>
      </p:sp>
      <p:sp>
        <p:nvSpPr>
          <p:cNvPr id="15" name="text-178"/>
          <p:cNvSpPr txBox="1"/>
          <p:nvPr/>
        </p:nvSpPr>
        <p:spPr>
          <a:xfrm>
            <a:off x="6190488" y="2176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Structured finding export</a:t>
            </a:r>
            <a:endParaRPr lang="en-US" sz="1000" dirty="0"/>
          </a:p>
        </p:txBody>
      </p:sp>
      <p:sp>
        <p:nvSpPr>
          <p:cNvPr id="16" name="shape-179"/>
          <p:cNvSpPr/>
          <p:nvPr/>
        </p:nvSpPr>
        <p:spPr>
          <a:xfrm>
            <a:off x="8942832" y="1371600"/>
            <a:ext cx="25603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-180"/>
          <p:cNvSpPr txBox="1"/>
          <p:nvPr/>
        </p:nvSpPr>
        <p:spPr>
          <a:xfrm>
            <a:off x="8942832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text-181"/>
          <p:cNvSpPr txBox="1"/>
          <p:nvPr/>
        </p:nvSpPr>
        <p:spPr>
          <a:xfrm>
            <a:off x="8942832" y="19202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Role-oriented areas</a:t>
            </a:r>
            <a:endParaRPr lang="en-US" sz="1200" dirty="0"/>
          </a:p>
        </p:txBody>
      </p:sp>
      <p:sp>
        <p:nvSpPr>
          <p:cNvPr id="19" name="text-182"/>
          <p:cNvSpPr txBox="1"/>
          <p:nvPr/>
        </p:nvSpPr>
        <p:spPr>
          <a:xfrm>
            <a:off x="8942832" y="2176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Analyst, Legal, Support, Executive</a:t>
            </a:r>
            <a:endParaRPr lang="en-US" sz="1000" dirty="0"/>
          </a:p>
        </p:txBody>
      </p:sp>
      <p:sp>
        <p:nvSpPr>
          <p:cNvPr id="20" name="shape-183"/>
          <p:cNvSpPr/>
          <p:nvPr/>
        </p:nvSpPr>
        <p:spPr>
          <a:xfrm>
            <a:off x="685800" y="2743200"/>
            <a:ext cx="52578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-184"/>
          <p:cNvSpPr txBox="1"/>
          <p:nvPr/>
        </p:nvSpPr>
        <p:spPr>
          <a:xfrm>
            <a:off x="96012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What This Prototype Demonstrates</a:t>
            </a:r>
            <a:endParaRPr lang="en-US" sz="1500" dirty="0"/>
          </a:p>
        </p:txBody>
      </p:sp>
      <p:graphicFrame>
        <p:nvGraphicFramePr>
          <p:cNvPr id="22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397560"/>
              </p:ext>
            </p:extLst>
          </p:nvPr>
        </p:nvGraphicFramePr>
        <p:xfrm>
          <a:off x="685800" y="3182112"/>
          <a:ext cx="5257800" cy="2784254"/>
        </p:xfrm>
        <a:graphic>
          <a:graphicData uri="http://schemas.openxmlformats.org/drawingml/2006/table">
            <a:tbl>
              <a:tblPr/>
              <a:tblGrid>
                <a:gridCol w="1387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347">
                <a:tc>
                  <a:txBody>
                    <a:bodyPr/>
                    <a:lstStyle/>
                    <a:p>
                      <a:r>
                        <a:rPr sz="1200" dirty="0"/>
                        <a:t>Capability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Current prototype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Implemented now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Future work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520">
                <a:tc>
                  <a:txBody>
                    <a:bodyPr/>
                    <a:lstStyle/>
                    <a:p>
                      <a:r>
                        <a:rPr sz="1200" dirty="0"/>
                        <a:t>Monitoring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Synthetic fixtures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Social + app demo runs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Authorized APIs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347">
                <a:tc>
                  <a:txBody>
                    <a:bodyPr/>
                    <a:lstStyle/>
                    <a:p>
                      <a:r>
                        <a:rPr sz="1200"/>
                        <a:t>Detection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Configured signals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Risk-scored findings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Measured accuracy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520">
                <a:tc>
                  <a:txBody>
                    <a:bodyPr/>
                    <a:lstStyle/>
                    <a:p>
                      <a:r>
                        <a:rPr sz="1200"/>
                        <a:t>Investigation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Analyst workflow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Statuses + JSON evidence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Workflow integrations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520"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SQLite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Current findings store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Durable managed DB</a:t>
                      </a: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-185"/>
          <p:cNvSpPr/>
          <p:nvPr/>
        </p:nvSpPr>
        <p:spPr>
          <a:xfrm>
            <a:off x="6217920" y="2743200"/>
            <a:ext cx="528523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-186"/>
          <p:cNvSpPr txBox="1"/>
          <p:nvPr/>
        </p:nvSpPr>
        <p:spPr>
          <a:xfrm>
            <a:off x="6492240" y="2852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Technical Implementation</a:t>
            </a:r>
            <a:endParaRPr lang="en-US" sz="1400" dirty="0"/>
          </a:p>
        </p:txBody>
      </p:sp>
      <p:sp>
        <p:nvSpPr>
          <p:cNvPr id="25" name="text-187"/>
          <p:cNvSpPr txBox="1"/>
          <p:nvPr/>
        </p:nvSpPr>
        <p:spPr>
          <a:xfrm>
            <a:off x="6492240" y="3154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React frontend, FastAPI backend, and SQLite storage. Check repository scripts and current test results for exact validation status.</a:t>
            </a:r>
            <a:endParaRPr lang="en-US" sz="1200" dirty="0"/>
          </a:p>
        </p:txBody>
      </p:sp>
      <p:sp>
        <p:nvSpPr>
          <p:cNvPr id="26" name="shape-188"/>
          <p:cNvSpPr/>
          <p:nvPr/>
        </p:nvSpPr>
        <p:spPr>
          <a:xfrm>
            <a:off x="6217920" y="3840480"/>
            <a:ext cx="528523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-189"/>
          <p:cNvSpPr txBox="1"/>
          <p:nvPr/>
        </p:nvSpPr>
        <p:spPr>
          <a:xfrm>
            <a:off x="6492240" y="3950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Responsible Triage</a:t>
            </a:r>
            <a:endParaRPr lang="en-US" sz="1400" dirty="0"/>
          </a:p>
        </p:txBody>
      </p:sp>
      <p:sp>
        <p:nvSpPr>
          <p:cNvPr id="28" name="text-190"/>
          <p:cNvSpPr txBox="1"/>
          <p:nvPr/>
        </p:nvSpPr>
        <p:spPr>
          <a:xfrm>
            <a:off x="649224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Risk scores prioritize review; they do not establish malicious intent. Official-asset exclusions should be validated with representative tests.</a:t>
            </a:r>
            <a:endParaRPr lang="en-US" sz="1200" dirty="0"/>
          </a:p>
        </p:txBody>
      </p:sp>
      <p:sp>
        <p:nvSpPr>
          <p:cNvPr id="29" name="shape-191"/>
          <p:cNvSpPr/>
          <p:nvPr/>
        </p:nvSpPr>
        <p:spPr>
          <a:xfrm>
            <a:off x="6217920" y="4937760"/>
            <a:ext cx="528523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-192"/>
          <p:cNvSpPr txBox="1"/>
          <p:nvPr/>
        </p:nvSpPr>
        <p:spPr>
          <a:xfrm>
            <a:off x="6492240" y="5047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Honest Scope</a:t>
            </a:r>
            <a:endParaRPr lang="en-US" sz="1400" dirty="0"/>
          </a:p>
        </p:txBody>
      </p:sp>
      <p:sp>
        <p:nvSpPr>
          <p:cNvPr id="31" name="text-193"/>
          <p:cNvSpPr txBox="1"/>
          <p:nvPr/>
        </p:nvSpPr>
        <p:spPr>
          <a:xfrm>
            <a:off x="649224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current demonstration uses synthetic fixtures. Live social/app connectors, measured detection rates, and production response SLAs are not claimed.</a:t>
            </a:r>
            <a:endParaRPr lang="en-US" sz="1200" dirty="0"/>
          </a:p>
        </p:txBody>
      </p:sp>
      <p:sp>
        <p:nvSpPr>
          <p:cNvPr id="32" name="text-194"/>
          <p:cNvSpPr txBox="1"/>
          <p:nvPr/>
        </p:nvSpPr>
        <p:spPr>
          <a:xfrm>
            <a:off x="68580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Deployment: Vercel frontend + Render API. Free-tier startup and ephemeral storage limitations may apply.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95"/>
          <p:cNvSpPr txBox="1"/>
          <p:nvPr/>
        </p:nvSpPr>
        <p:spPr>
          <a:xfrm>
            <a:off x="685800" y="502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References, Scope &amp; Responsible Use</a:t>
            </a:r>
            <a:endParaRPr lang="en-US" sz="2800" dirty="0"/>
          </a:p>
        </p:txBody>
      </p:sp>
      <p:sp>
        <p:nvSpPr>
          <p:cNvPr id="3" name="pill-196"/>
          <p:cNvSpPr txBox="1"/>
          <p:nvPr/>
        </p:nvSpPr>
        <p:spPr>
          <a:xfrm>
            <a:off x="9262872" y="621792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RESEARCH &amp; SCOPE</a:t>
            </a:r>
            <a:endParaRPr lang="en-US" sz="1100" dirty="0"/>
          </a:p>
        </p:txBody>
      </p:sp>
      <p:sp>
        <p:nvSpPr>
          <p:cNvPr id="4" name="text-197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The current application is a prototype demonstrating digital risk protection workflows, not a validated production monitoring service.</a:t>
            </a:r>
            <a:endParaRPr lang="en-US" sz="1500" dirty="0"/>
          </a:p>
        </p:txBody>
      </p:sp>
      <p:sp>
        <p:nvSpPr>
          <p:cNvPr id="5" name="shape-198"/>
          <p:cNvSpPr/>
          <p:nvPr/>
        </p:nvSpPr>
        <p:spPr>
          <a:xfrm>
            <a:off x="685800" y="1783080"/>
            <a:ext cx="5285232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-199"/>
          <p:cNvSpPr/>
          <p:nvPr/>
        </p:nvSpPr>
        <p:spPr>
          <a:xfrm>
            <a:off x="91440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pic>
        <p:nvPicPr>
          <p:cNvPr id="7" name="icon-2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2137410"/>
            <a:ext cx="251460" cy="251460"/>
          </a:xfrm>
          <a:prstGeom prst="rect">
            <a:avLst/>
          </a:prstGeom>
        </p:spPr>
      </p:pic>
      <p:sp>
        <p:nvSpPr>
          <p:cNvPr id="8" name="text-201"/>
          <p:cNvSpPr txBox="1"/>
          <p:nvPr/>
        </p:nvSpPr>
        <p:spPr>
          <a:xfrm>
            <a:off x="1554480" y="201168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Implementation Scope</a:t>
            </a:r>
            <a:endParaRPr lang="en-US" sz="1600" dirty="0"/>
          </a:p>
        </p:txBody>
      </p:sp>
      <p:sp>
        <p:nvSpPr>
          <p:cNvPr id="9" name="text-202"/>
          <p:cNvSpPr txBox="1"/>
          <p:nvPr/>
        </p:nvSpPr>
        <p:spPr>
          <a:xfrm>
            <a:off x="960120" y="2651760"/>
            <a:ext cx="4736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Social and app monitoring demonstrations use synthetic fixtures. Detection signals and findings should be evaluated against labelled examples before making accuracy claims.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0" name="shape-203"/>
          <p:cNvSpPr/>
          <p:nvPr/>
        </p:nvSpPr>
        <p:spPr>
          <a:xfrm>
            <a:off x="6217920" y="1783080"/>
            <a:ext cx="5285232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-204"/>
          <p:cNvSpPr/>
          <p:nvPr/>
        </p:nvSpPr>
        <p:spPr>
          <a:xfrm>
            <a:off x="644652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pic>
        <p:nvPicPr>
          <p:cNvPr id="12" name="icon-20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137410"/>
            <a:ext cx="251460" cy="251460"/>
          </a:xfrm>
          <a:prstGeom prst="rect">
            <a:avLst/>
          </a:prstGeom>
        </p:spPr>
      </p:pic>
      <p:sp>
        <p:nvSpPr>
          <p:cNvPr id="13" name="text-206"/>
          <p:cNvSpPr txBox="1"/>
          <p:nvPr/>
        </p:nvSpPr>
        <p:spPr>
          <a:xfrm>
            <a:off x="7086600" y="201168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Responsible Investigation</a:t>
            </a:r>
            <a:endParaRPr lang="en-US" sz="1600" dirty="0"/>
          </a:p>
        </p:txBody>
      </p:sp>
      <p:sp>
        <p:nvSpPr>
          <p:cNvPr id="14" name="text-207"/>
          <p:cNvSpPr txBox="1"/>
          <p:nvPr/>
        </p:nvSpPr>
        <p:spPr>
          <a:xfrm>
            <a:off x="6492240" y="2651760"/>
            <a:ext cx="4736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Treat scores as triage signals, not proof. Confirm findings manually, protect evidence and credentials, and use authorized data sources for any future integrations.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5" name="shape-208"/>
          <p:cNvSpPr/>
          <p:nvPr/>
        </p:nvSpPr>
        <p:spPr>
          <a:xfrm>
            <a:off x="685800" y="4114800"/>
            <a:ext cx="5285232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-209"/>
          <p:cNvSpPr/>
          <p:nvPr/>
        </p:nvSpPr>
        <p:spPr>
          <a:xfrm>
            <a:off x="91440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pic>
        <p:nvPicPr>
          <p:cNvPr id="17" name="icon-2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4469130"/>
            <a:ext cx="251460" cy="251460"/>
          </a:xfrm>
          <a:prstGeom prst="rect">
            <a:avLst/>
          </a:prstGeom>
        </p:spPr>
      </p:pic>
      <p:sp>
        <p:nvSpPr>
          <p:cNvPr id="18" name="text-211"/>
          <p:cNvSpPr txBox="1"/>
          <p:nvPr/>
        </p:nvSpPr>
        <p:spPr>
          <a:xfrm>
            <a:off x="1554480" y="434340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Deployment Considerations</a:t>
            </a:r>
            <a:endParaRPr lang="en-US" sz="1600" dirty="0"/>
          </a:p>
        </p:txBody>
      </p:sp>
      <p:sp>
        <p:nvSpPr>
          <p:cNvPr id="19" name="text-212"/>
          <p:cNvSpPr txBox="1"/>
          <p:nvPr/>
        </p:nvSpPr>
        <p:spPr>
          <a:xfrm>
            <a:off x="960120" y="4983480"/>
            <a:ext cx="4736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The frontend is deployed on Vercel and the API on Render. Free-tier services may sleep, and SQLite data may not persist across all restarts or redeployments.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20" name="shape-213"/>
          <p:cNvSpPr/>
          <p:nvPr/>
        </p:nvSpPr>
        <p:spPr>
          <a:xfrm>
            <a:off x="6217920" y="4114800"/>
            <a:ext cx="5285232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-214"/>
          <p:cNvSpPr/>
          <p:nvPr/>
        </p:nvSpPr>
        <p:spPr>
          <a:xfrm>
            <a:off x="644652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pic>
        <p:nvPicPr>
          <p:cNvPr id="22" name="icon-2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4469130"/>
            <a:ext cx="251460" cy="251460"/>
          </a:xfrm>
          <a:prstGeom prst="rect">
            <a:avLst/>
          </a:prstGeom>
        </p:spPr>
      </p:pic>
      <p:sp>
        <p:nvSpPr>
          <p:cNvPr id="23" name="text-216"/>
          <p:cNvSpPr txBox="1"/>
          <p:nvPr/>
        </p:nvSpPr>
        <p:spPr>
          <a:xfrm>
            <a:off x="7086600" y="434340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Future Enhancements</a:t>
            </a:r>
            <a:endParaRPr lang="en-US" sz="1600" dirty="0"/>
          </a:p>
        </p:txBody>
      </p:sp>
      <p:sp>
        <p:nvSpPr>
          <p:cNvPr id="24" name="text-217"/>
          <p:cNvSpPr txBox="1"/>
          <p:nvPr/>
        </p:nvSpPr>
        <p:spPr>
          <a:xfrm>
            <a:off x="6492240" y="4983480"/>
            <a:ext cx="4736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Authorized platform APIs, scheduled monitoring, stronger similarity evaluation, production authentication and authorization, durable storage, and measured precision/recall.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218"/>
          <p:cNvSpPr txBox="1"/>
          <p:nvPr/>
        </p:nvSpPr>
        <p:spPr>
          <a:xfrm>
            <a:off x="685800" y="53035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0E5FF">
              <a:alpha val="12000"/>
            </a:srgbClr>
          </a:solidFill>
          <a:ln w="9525">
            <a:solidFill>
              <a:srgbClr val="00E5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" name="icon-2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612648"/>
            <a:ext cx="137160" cy="137160"/>
          </a:xfrm>
          <a:prstGeom prst="rect">
            <a:avLst/>
          </a:prstGeom>
        </p:spPr>
      </p:pic>
      <p:sp>
        <p:nvSpPr>
          <p:cNvPr id="4" name="text-220"/>
          <p:cNvSpPr txBox="1"/>
          <p:nvPr/>
        </p:nvSpPr>
        <p:spPr>
          <a:xfrm>
            <a:off x="1097280" y="5303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</a:rPr>
              <a:t>LIVE DEMO</a:t>
            </a:r>
            <a:endParaRPr lang="en-US" sz="1200" dirty="0"/>
          </a:p>
        </p:txBody>
      </p:sp>
      <p:sp>
        <p:nvSpPr>
          <p:cNvPr id="5" name="text-221"/>
          <p:cNvSpPr txBox="1"/>
          <p:nvPr/>
        </p:nvSpPr>
        <p:spPr>
          <a:xfrm>
            <a:off x="7845552" y="5303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HacXLerate 2026</a:t>
            </a:r>
            <a:endParaRPr lang="en-US" sz="1200" dirty="0"/>
          </a:p>
        </p:txBody>
      </p:sp>
      <p:sp>
        <p:nvSpPr>
          <p:cNvPr id="6" name="text-222"/>
          <p:cNvSpPr txBox="1"/>
          <p:nvPr/>
        </p:nvSpPr>
        <p:spPr>
          <a:xfrm>
            <a:off x="685800" y="13716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Identify. Review. Document. Protect Brand Trust.</a:t>
            </a:r>
            <a:endParaRPr lang="en-US" sz="4400" dirty="0"/>
          </a:p>
        </p:txBody>
      </p:sp>
      <p:sp>
        <p:nvSpPr>
          <p:cNvPr id="7" name="num-223"/>
          <p:cNvSpPr txBox="1"/>
          <p:nvPr/>
        </p:nvSpPr>
        <p:spPr>
          <a:xfrm>
            <a:off x="685800" y="3200400"/>
            <a:ext cx="347472" cy="347472"/>
          </a:xfrm>
          <a:prstGeom prst="ellipse">
            <a:avLst/>
          </a:prstGeom>
          <a:solidFill>
            <a:srgbClr val="00E5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-224"/>
          <p:cNvSpPr txBox="1"/>
          <p:nvPr/>
        </p:nvSpPr>
        <p:spPr>
          <a:xfrm>
            <a:off x="1234440" y="31821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Open the deployed application and explore the Analyst Dashboard</a:t>
            </a:r>
            <a:endParaRPr lang="en-US" sz="1600" dirty="0"/>
          </a:p>
        </p:txBody>
      </p:sp>
      <p:sp>
        <p:nvSpPr>
          <p:cNvPr id="9" name="num-225"/>
          <p:cNvSpPr txBox="1"/>
          <p:nvPr/>
        </p:nvSpPr>
        <p:spPr>
          <a:xfrm>
            <a:off x="685800" y="3749040"/>
            <a:ext cx="347472" cy="347472"/>
          </a:xfrm>
          <a:prstGeom prst="ellipse">
            <a:avLst/>
          </a:prstGeom>
          <a:solidFill>
            <a:srgbClr val="00E5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-226"/>
          <p:cNvSpPr txBox="1"/>
          <p:nvPr/>
        </p:nvSpPr>
        <p:spPr>
          <a:xfrm>
            <a:off x="1234440" y="37307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Run the social and app monitoring demo workflows</a:t>
            </a:r>
            <a:endParaRPr lang="en-US" sz="1600" dirty="0"/>
          </a:p>
        </p:txBody>
      </p:sp>
      <p:sp>
        <p:nvSpPr>
          <p:cNvPr id="11" name="num-227"/>
          <p:cNvSpPr txBox="1"/>
          <p:nvPr/>
        </p:nvSpPr>
        <p:spPr>
          <a:xfrm>
            <a:off x="685800" y="4297680"/>
            <a:ext cx="347472" cy="347472"/>
          </a:xfrm>
          <a:prstGeom prst="ellipse">
            <a:avLst/>
          </a:prstGeom>
          <a:solidFill>
            <a:srgbClr val="00E5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-228"/>
          <p:cNvSpPr txBox="1"/>
          <p:nvPr/>
        </p:nvSpPr>
        <p:spPr>
          <a:xfrm>
            <a:off x="1234440" y="42793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Review findings, official assets, and JSON evidence</a:t>
            </a:r>
            <a:endParaRPr lang="en-US" sz="1600" dirty="0"/>
          </a:p>
        </p:txBody>
      </p:sp>
      <p:sp>
        <p:nvSpPr>
          <p:cNvPr id="13" name="shape-229"/>
          <p:cNvSpPr/>
          <p:nvPr/>
        </p:nvSpPr>
        <p:spPr>
          <a:xfrm>
            <a:off x="685800" y="4937760"/>
            <a:ext cx="6400800" cy="868680"/>
          </a:xfrm>
          <a:prstGeom prst="roundRect">
            <a:avLst>
              <a:gd name="adj" fmla="val 14737"/>
            </a:avLst>
          </a:prstGeom>
          <a:solidFill>
            <a:srgbClr val="151F2E"/>
          </a:solidFill>
          <a:ln w="12700">
            <a:solidFill>
              <a:srgbClr val="151F2E">
                <a:alpha val="0"/>
              </a:srgbClr>
            </a:solidFill>
            <a:prstDash val="solid"/>
          </a:ln>
        </p:spPr>
      </p:sp>
      <p:sp>
        <p:nvSpPr>
          <p:cNvPr id="14" name="text-230"/>
          <p:cNvSpPr txBox="1"/>
          <p:nvPr/>
        </p:nvSpPr>
        <p:spPr>
          <a:xfrm>
            <a:off x="960120" y="49377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A transparent prototype for organizing the investigation of potential digital brand-abuse threats.</a:t>
            </a:r>
            <a:endParaRPr lang="en-US" sz="1600" dirty="0"/>
          </a:p>
        </p:txBody>
      </p:sp>
      <p:sp>
        <p:nvSpPr>
          <p:cNvPr id="15" name="shape-231"/>
          <p:cNvSpPr/>
          <p:nvPr/>
        </p:nvSpPr>
        <p:spPr>
          <a:xfrm>
            <a:off x="7498080" y="1554480"/>
            <a:ext cx="4005072" cy="3246120"/>
          </a:xfrm>
          <a:prstGeom prst="roundRect">
            <a:avLst>
              <a:gd name="adj" fmla="val 7042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6" name="icon-23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920240"/>
            <a:ext cx="566928" cy="566928"/>
          </a:xfrm>
          <a:prstGeom prst="rect">
            <a:avLst/>
          </a:prstGeom>
        </p:spPr>
      </p:pic>
      <p:sp>
        <p:nvSpPr>
          <p:cNvPr id="17" name="text-233"/>
          <p:cNvSpPr txBox="1"/>
          <p:nvPr/>
        </p:nvSpPr>
        <p:spPr>
          <a:xfrm>
            <a:off x="7498080" y="265176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8" name="text-234"/>
          <p:cNvSpPr txBox="1"/>
          <p:nvPr/>
        </p:nvSpPr>
        <p:spPr>
          <a:xfrm>
            <a:off x="7498080" y="32004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Questions &amp; Live Demo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818120" y="3794760"/>
            <a:ext cx="3364992" cy="0"/>
          </a:xfrm>
          <a:prstGeom prst="line">
            <a:avLst/>
          </a:prstGeom>
          <a:noFill/>
          <a:ln w="9525">
            <a:solidFill>
              <a:srgbClr val="2A3547"/>
            </a:solidFill>
            <a:prstDash val="solid"/>
          </a:ln>
        </p:spPr>
      </p:sp>
      <p:sp>
        <p:nvSpPr>
          <p:cNvPr id="20" name="text-235"/>
          <p:cNvSpPr txBox="1"/>
          <p:nvPr/>
        </p:nvSpPr>
        <p:spPr>
          <a:xfrm>
            <a:off x="7498080" y="402336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AEGISAGENT DRP • HacXLERATE 2026</a:t>
            </a:r>
            <a:endParaRPr lang="en-US" sz="1200" dirty="0"/>
          </a:p>
        </p:txBody>
      </p:sp>
      <p:sp>
        <p:nvSpPr>
          <p:cNvPr id="21" name="shape-236"/>
          <p:cNvSpPr/>
          <p:nvPr/>
        </p:nvSpPr>
        <p:spPr>
          <a:xfrm>
            <a:off x="7498080" y="4937760"/>
            <a:ext cx="1261872" cy="868680"/>
          </a:xfrm>
          <a:prstGeom prst="roundRect">
            <a:avLst>
              <a:gd name="adj" fmla="val 12632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22" name="text-237"/>
          <p:cNvSpPr txBox="1"/>
          <p:nvPr/>
        </p:nvSpPr>
        <p:spPr>
          <a:xfrm>
            <a:off x="7498080" y="4983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Demo</a:t>
            </a:r>
            <a:endParaRPr lang="en-US" sz="2000" dirty="0"/>
          </a:p>
        </p:txBody>
      </p:sp>
      <p:sp>
        <p:nvSpPr>
          <p:cNvPr id="23" name="text-238"/>
          <p:cNvSpPr txBox="1"/>
          <p:nvPr/>
        </p:nvSpPr>
        <p:spPr>
          <a:xfrm>
            <a:off x="7498080" y="5440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Fixtures</a:t>
            </a:r>
            <a:endParaRPr lang="en-US" sz="1000" dirty="0"/>
          </a:p>
        </p:txBody>
      </p:sp>
      <p:sp>
        <p:nvSpPr>
          <p:cNvPr id="24" name="shape-239"/>
          <p:cNvSpPr/>
          <p:nvPr/>
        </p:nvSpPr>
        <p:spPr>
          <a:xfrm>
            <a:off x="8869680" y="4937760"/>
            <a:ext cx="1261872" cy="868680"/>
          </a:xfrm>
          <a:prstGeom prst="roundRect">
            <a:avLst>
              <a:gd name="adj" fmla="val 12632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25" name="text-240"/>
          <p:cNvSpPr txBox="1"/>
          <p:nvPr/>
        </p:nvSpPr>
        <p:spPr>
          <a:xfrm>
            <a:off x="8869680" y="4983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FF"/>
                </a:solidFill>
              </a:rPr>
              <a:t>Human</a:t>
            </a:r>
            <a:endParaRPr lang="en-US" sz="2000" dirty="0"/>
          </a:p>
        </p:txBody>
      </p:sp>
      <p:sp>
        <p:nvSpPr>
          <p:cNvPr id="26" name="text-241"/>
          <p:cNvSpPr txBox="1"/>
          <p:nvPr/>
        </p:nvSpPr>
        <p:spPr>
          <a:xfrm>
            <a:off x="8869680" y="5440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Review</a:t>
            </a:r>
            <a:endParaRPr lang="en-US" sz="1000" dirty="0"/>
          </a:p>
        </p:txBody>
      </p:sp>
      <p:sp>
        <p:nvSpPr>
          <p:cNvPr id="27" name="shape-242"/>
          <p:cNvSpPr/>
          <p:nvPr/>
        </p:nvSpPr>
        <p:spPr>
          <a:xfrm>
            <a:off x="10241280" y="4937760"/>
            <a:ext cx="1261872" cy="868680"/>
          </a:xfrm>
          <a:prstGeom prst="roundRect">
            <a:avLst>
              <a:gd name="adj" fmla="val 12632"/>
            </a:avLst>
          </a:prstGeom>
          <a:solidFill>
            <a:srgbClr val="151F2E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28" name="text-243"/>
          <p:cNvSpPr txBox="1"/>
          <p:nvPr/>
        </p:nvSpPr>
        <p:spPr>
          <a:xfrm>
            <a:off x="10241280" y="4983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JSON</a:t>
            </a:r>
            <a:endParaRPr lang="en-US" sz="2000" dirty="0"/>
          </a:p>
        </p:txBody>
      </p:sp>
      <p:sp>
        <p:nvSpPr>
          <p:cNvPr id="29" name="text-244"/>
          <p:cNvSpPr txBox="1"/>
          <p:nvPr/>
        </p:nvSpPr>
        <p:spPr>
          <a:xfrm>
            <a:off x="10241280" y="5440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Evidence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Agent Sample Layout">
  <a:themeElements>
    <a:clrScheme name="AegisAgent Sample Layout">
      <a:dk1>
        <a:srgbClr val="0F172A"/>
      </a:dk1>
      <a:lt1>
        <a:srgbClr val="F8FAFC"/>
      </a:lt1>
      <a:dk2>
        <a:srgbClr val="0A0F1A"/>
      </a:dk2>
      <a:lt2>
        <a:srgbClr val="FFFFFF"/>
      </a:lt2>
      <a:accent1>
        <a:srgbClr val="00E5FF"/>
      </a:accent1>
      <a:accent2>
        <a:srgbClr val="0284C7"/>
      </a:accent2>
      <a:accent3>
        <a:srgbClr val="DC2626"/>
      </a:accent3>
      <a:accent4>
        <a:srgbClr val="F59E0B"/>
      </a:accent4>
      <a:accent5>
        <a:srgbClr val="10B981"/>
      </a:accent5>
      <a:accent6>
        <a:srgbClr val="8B5CF6"/>
      </a:accent6>
      <a:hlink>
        <a:srgbClr val="0284C7"/>
      </a:hlink>
      <a:folHlink>
        <a:srgbClr val="64748B"/>
      </a:folHlink>
    </a:clrScheme>
    <a:fontScheme name="AegisAgent Sample Layou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996</Words>
  <Application>Microsoft Office PowerPoint</Application>
  <PresentationFormat>Widescreen</PresentationFormat>
  <Paragraphs>186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AegisAgent Sample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AegisAgent DRP - Master Pitch Deck</dc:title>
  <dc:subject>PptxGenJS Presentation</dc:subject>
  <dc:creator>AegisAgent DRP</dc:creator>
  <cp:lastModifiedBy>SHAIK SAMEENA</cp:lastModifiedBy>
  <cp:revision>2</cp:revision>
  <dcterms:created xsi:type="dcterms:W3CDTF">2026-10-13T20:45:49Z</dcterms:created>
  <dcterms:modified xsi:type="dcterms:W3CDTF">2026-10-14T15:40:53Z</dcterms:modified>
</cp:coreProperties>
</file>